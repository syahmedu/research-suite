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4248" y="1170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400" kern="0" dirty="0">
                <a:solidFill>
                  <a:srgbClr val="FF96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RESEARCH WORKSPACE, A → Z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1527048" y="1572768"/>
            <a:ext cx="9144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Throughline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12848" y="283464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connected workflow from the first hunch to a submission-ready manuscript —</a:t>
            </a:r>
            <a:endParaRPr lang="en-US" sz="15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methodological rigor built into every handoff.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828800" y="4224528"/>
            <a:ext cx="205667" cy="45720"/>
          </a:xfrm>
          <a:prstGeom prst="rect">
            <a:avLst/>
          </a:prstGeom>
          <a:solidFill>
            <a:srgbClr val="FF9656"/>
          </a:solidFill>
          <a:ln/>
        </p:spPr>
      </p:sp>
      <p:sp>
        <p:nvSpPr>
          <p:cNvPr id="6" name="Shape 4"/>
          <p:cNvSpPr/>
          <p:nvPr/>
        </p:nvSpPr>
        <p:spPr>
          <a:xfrm>
            <a:off x="1981146" y="4224528"/>
            <a:ext cx="205667" cy="45720"/>
          </a:xfrm>
          <a:prstGeom prst="rect">
            <a:avLst/>
          </a:prstGeom>
          <a:solidFill>
            <a:srgbClr val="FF9357"/>
          </a:solidFill>
          <a:ln/>
        </p:spPr>
      </p:sp>
      <p:sp>
        <p:nvSpPr>
          <p:cNvPr id="7" name="Shape 5"/>
          <p:cNvSpPr/>
          <p:nvPr/>
        </p:nvSpPr>
        <p:spPr>
          <a:xfrm>
            <a:off x="2133491" y="4224528"/>
            <a:ext cx="205667" cy="45720"/>
          </a:xfrm>
          <a:prstGeom prst="rect">
            <a:avLst/>
          </a:prstGeom>
          <a:solidFill>
            <a:srgbClr val="FE9158"/>
          </a:solidFill>
          <a:ln/>
        </p:spPr>
      </p:sp>
      <p:sp>
        <p:nvSpPr>
          <p:cNvPr id="8" name="Shape 6"/>
          <p:cNvSpPr/>
          <p:nvPr/>
        </p:nvSpPr>
        <p:spPr>
          <a:xfrm>
            <a:off x="2285837" y="4224528"/>
            <a:ext cx="205667" cy="45720"/>
          </a:xfrm>
          <a:prstGeom prst="rect">
            <a:avLst/>
          </a:prstGeom>
          <a:solidFill>
            <a:srgbClr val="FE8E59"/>
          </a:solidFill>
          <a:ln/>
        </p:spPr>
      </p:sp>
      <p:sp>
        <p:nvSpPr>
          <p:cNvPr id="9" name="Shape 7"/>
          <p:cNvSpPr/>
          <p:nvPr/>
        </p:nvSpPr>
        <p:spPr>
          <a:xfrm>
            <a:off x="2438182" y="4224528"/>
            <a:ext cx="205667" cy="45720"/>
          </a:xfrm>
          <a:prstGeom prst="rect">
            <a:avLst/>
          </a:prstGeom>
          <a:solidFill>
            <a:srgbClr val="FD8B5A"/>
          </a:solidFill>
          <a:ln/>
        </p:spPr>
      </p:sp>
      <p:sp>
        <p:nvSpPr>
          <p:cNvPr id="10" name="Shape 8"/>
          <p:cNvSpPr/>
          <p:nvPr/>
        </p:nvSpPr>
        <p:spPr>
          <a:xfrm>
            <a:off x="2590528" y="4224528"/>
            <a:ext cx="205667" cy="45720"/>
          </a:xfrm>
          <a:prstGeom prst="rect">
            <a:avLst/>
          </a:prstGeom>
          <a:solidFill>
            <a:srgbClr val="FD895B"/>
          </a:solidFill>
          <a:ln/>
        </p:spPr>
      </p:sp>
      <p:sp>
        <p:nvSpPr>
          <p:cNvPr id="11" name="Shape 9"/>
          <p:cNvSpPr/>
          <p:nvPr/>
        </p:nvSpPr>
        <p:spPr>
          <a:xfrm>
            <a:off x="2742873" y="4224528"/>
            <a:ext cx="205667" cy="45720"/>
          </a:xfrm>
          <a:prstGeom prst="rect">
            <a:avLst/>
          </a:prstGeom>
          <a:solidFill>
            <a:srgbClr val="FC865C"/>
          </a:solidFill>
          <a:ln/>
        </p:spPr>
      </p:sp>
      <p:sp>
        <p:nvSpPr>
          <p:cNvPr id="12" name="Shape 10"/>
          <p:cNvSpPr/>
          <p:nvPr/>
        </p:nvSpPr>
        <p:spPr>
          <a:xfrm>
            <a:off x="2895219" y="4224528"/>
            <a:ext cx="205667" cy="45720"/>
          </a:xfrm>
          <a:prstGeom prst="rect">
            <a:avLst/>
          </a:prstGeom>
          <a:solidFill>
            <a:srgbClr val="FC835D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7565" y="4224528"/>
            <a:ext cx="205667" cy="45720"/>
          </a:xfrm>
          <a:prstGeom prst="rect">
            <a:avLst/>
          </a:prstGeom>
          <a:solidFill>
            <a:srgbClr val="FB815E"/>
          </a:solidFill>
          <a:ln/>
        </p:spPr>
      </p:sp>
      <p:sp>
        <p:nvSpPr>
          <p:cNvPr id="14" name="Shape 12"/>
          <p:cNvSpPr/>
          <p:nvPr/>
        </p:nvSpPr>
        <p:spPr>
          <a:xfrm>
            <a:off x="3199910" y="4224528"/>
            <a:ext cx="205667" cy="45720"/>
          </a:xfrm>
          <a:prstGeom prst="rect">
            <a:avLst/>
          </a:prstGeom>
          <a:solidFill>
            <a:srgbClr val="FB7E5F"/>
          </a:solidFill>
          <a:ln/>
        </p:spPr>
      </p:sp>
      <p:sp>
        <p:nvSpPr>
          <p:cNvPr id="15" name="Shape 13"/>
          <p:cNvSpPr/>
          <p:nvPr/>
        </p:nvSpPr>
        <p:spPr>
          <a:xfrm>
            <a:off x="3352256" y="4224528"/>
            <a:ext cx="205667" cy="45720"/>
          </a:xfrm>
          <a:prstGeom prst="rect">
            <a:avLst/>
          </a:prstGeom>
          <a:solidFill>
            <a:srgbClr val="FA7B60"/>
          </a:solidFill>
          <a:ln/>
        </p:spPr>
      </p:sp>
      <p:sp>
        <p:nvSpPr>
          <p:cNvPr id="16" name="Shape 14"/>
          <p:cNvSpPr/>
          <p:nvPr/>
        </p:nvSpPr>
        <p:spPr>
          <a:xfrm>
            <a:off x="3504601" y="4224528"/>
            <a:ext cx="205667" cy="45720"/>
          </a:xfrm>
          <a:prstGeom prst="rect">
            <a:avLst/>
          </a:prstGeom>
          <a:solidFill>
            <a:srgbClr val="FA7961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6947" y="4224528"/>
            <a:ext cx="205667" cy="45720"/>
          </a:xfrm>
          <a:prstGeom prst="rect">
            <a:avLst/>
          </a:prstGeom>
          <a:solidFill>
            <a:srgbClr val="F97662"/>
          </a:solidFill>
          <a:ln/>
        </p:spPr>
      </p:sp>
      <p:sp>
        <p:nvSpPr>
          <p:cNvPr id="18" name="Shape 16"/>
          <p:cNvSpPr/>
          <p:nvPr/>
        </p:nvSpPr>
        <p:spPr>
          <a:xfrm>
            <a:off x="3809292" y="4224528"/>
            <a:ext cx="205667" cy="45720"/>
          </a:xfrm>
          <a:prstGeom prst="rect">
            <a:avLst/>
          </a:prstGeom>
          <a:solidFill>
            <a:srgbClr val="F97363"/>
          </a:solidFill>
          <a:ln/>
        </p:spPr>
      </p:sp>
      <p:sp>
        <p:nvSpPr>
          <p:cNvPr id="19" name="Shape 17"/>
          <p:cNvSpPr/>
          <p:nvPr/>
        </p:nvSpPr>
        <p:spPr>
          <a:xfrm>
            <a:off x="3961638" y="4224528"/>
            <a:ext cx="205667" cy="45720"/>
          </a:xfrm>
          <a:prstGeom prst="rect">
            <a:avLst/>
          </a:prstGeom>
          <a:solidFill>
            <a:srgbClr val="F97164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3984" y="4224528"/>
            <a:ext cx="205667" cy="45720"/>
          </a:xfrm>
          <a:prstGeom prst="rect">
            <a:avLst/>
          </a:prstGeom>
          <a:solidFill>
            <a:srgbClr val="F86E65"/>
          </a:solidFill>
          <a:ln/>
        </p:spPr>
      </p:sp>
      <p:sp>
        <p:nvSpPr>
          <p:cNvPr id="21" name="Shape 19"/>
          <p:cNvSpPr/>
          <p:nvPr/>
        </p:nvSpPr>
        <p:spPr>
          <a:xfrm>
            <a:off x="4266329" y="4224528"/>
            <a:ext cx="205667" cy="45720"/>
          </a:xfrm>
          <a:prstGeom prst="rect">
            <a:avLst/>
          </a:prstGeom>
          <a:solidFill>
            <a:srgbClr val="F86B66"/>
          </a:solidFill>
          <a:ln/>
        </p:spPr>
      </p:sp>
      <p:sp>
        <p:nvSpPr>
          <p:cNvPr id="22" name="Shape 20"/>
          <p:cNvSpPr/>
          <p:nvPr/>
        </p:nvSpPr>
        <p:spPr>
          <a:xfrm>
            <a:off x="4418675" y="4224528"/>
            <a:ext cx="205667" cy="45720"/>
          </a:xfrm>
          <a:prstGeom prst="rect">
            <a:avLst/>
          </a:prstGeom>
          <a:solidFill>
            <a:srgbClr val="F76867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1020" y="4224528"/>
            <a:ext cx="205667" cy="45720"/>
          </a:xfrm>
          <a:prstGeom prst="rect">
            <a:avLst/>
          </a:prstGeom>
          <a:solidFill>
            <a:srgbClr val="F76668"/>
          </a:solidFill>
          <a:ln/>
        </p:spPr>
      </p:sp>
      <p:sp>
        <p:nvSpPr>
          <p:cNvPr id="24" name="Shape 22"/>
          <p:cNvSpPr/>
          <p:nvPr/>
        </p:nvSpPr>
        <p:spPr>
          <a:xfrm>
            <a:off x="4723366" y="4224528"/>
            <a:ext cx="205667" cy="45720"/>
          </a:xfrm>
          <a:prstGeom prst="rect">
            <a:avLst/>
          </a:prstGeom>
          <a:solidFill>
            <a:srgbClr val="F66369"/>
          </a:solidFill>
          <a:ln/>
        </p:spPr>
      </p:sp>
      <p:sp>
        <p:nvSpPr>
          <p:cNvPr id="25" name="Shape 23"/>
          <p:cNvSpPr/>
          <p:nvPr/>
        </p:nvSpPr>
        <p:spPr>
          <a:xfrm>
            <a:off x="4875711" y="4224528"/>
            <a:ext cx="205667" cy="45720"/>
          </a:xfrm>
          <a:prstGeom prst="rect">
            <a:avLst/>
          </a:prstGeom>
          <a:solidFill>
            <a:srgbClr val="F6606A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8057" y="4224528"/>
            <a:ext cx="205667" cy="45720"/>
          </a:xfrm>
          <a:prstGeom prst="rect">
            <a:avLst/>
          </a:prstGeom>
          <a:solidFill>
            <a:srgbClr val="F55E6C"/>
          </a:solidFill>
          <a:ln/>
        </p:spPr>
      </p:sp>
      <p:sp>
        <p:nvSpPr>
          <p:cNvPr id="27" name="Shape 25"/>
          <p:cNvSpPr/>
          <p:nvPr/>
        </p:nvSpPr>
        <p:spPr>
          <a:xfrm>
            <a:off x="5180403" y="4224528"/>
            <a:ext cx="205667" cy="45720"/>
          </a:xfrm>
          <a:prstGeom prst="rect">
            <a:avLst/>
          </a:prstGeom>
          <a:solidFill>
            <a:srgbClr val="F55B6D"/>
          </a:solidFill>
          <a:ln/>
        </p:spPr>
      </p:sp>
      <p:sp>
        <p:nvSpPr>
          <p:cNvPr id="28" name="Shape 26"/>
          <p:cNvSpPr/>
          <p:nvPr/>
        </p:nvSpPr>
        <p:spPr>
          <a:xfrm>
            <a:off x="5332748" y="4224528"/>
            <a:ext cx="205667" cy="45720"/>
          </a:xfrm>
          <a:prstGeom prst="rect">
            <a:avLst/>
          </a:prstGeom>
          <a:solidFill>
            <a:srgbClr val="F4586E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5094" y="4224528"/>
            <a:ext cx="205667" cy="45720"/>
          </a:xfrm>
          <a:prstGeom prst="rect">
            <a:avLst/>
          </a:prstGeom>
          <a:solidFill>
            <a:srgbClr val="F4566F"/>
          </a:solidFill>
          <a:ln/>
        </p:spPr>
      </p:sp>
      <p:sp>
        <p:nvSpPr>
          <p:cNvPr id="30" name="Shape 28"/>
          <p:cNvSpPr/>
          <p:nvPr/>
        </p:nvSpPr>
        <p:spPr>
          <a:xfrm>
            <a:off x="5637439" y="4224528"/>
            <a:ext cx="205667" cy="45720"/>
          </a:xfrm>
          <a:prstGeom prst="rect">
            <a:avLst/>
          </a:prstGeom>
          <a:solidFill>
            <a:srgbClr val="F35370"/>
          </a:solidFill>
          <a:ln/>
        </p:spPr>
      </p:sp>
      <p:sp>
        <p:nvSpPr>
          <p:cNvPr id="31" name="Shape 29"/>
          <p:cNvSpPr/>
          <p:nvPr/>
        </p:nvSpPr>
        <p:spPr>
          <a:xfrm>
            <a:off x="5789785" y="4224528"/>
            <a:ext cx="205667" cy="45720"/>
          </a:xfrm>
          <a:prstGeom prst="rect">
            <a:avLst/>
          </a:prstGeom>
          <a:solidFill>
            <a:srgbClr val="F35071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2130" y="4224528"/>
            <a:ext cx="205667" cy="45720"/>
          </a:xfrm>
          <a:prstGeom prst="rect">
            <a:avLst/>
          </a:prstGeom>
          <a:solidFill>
            <a:srgbClr val="F34E72"/>
          </a:solidFill>
          <a:ln/>
        </p:spPr>
      </p:sp>
      <p:sp>
        <p:nvSpPr>
          <p:cNvPr id="33" name="Shape 31"/>
          <p:cNvSpPr/>
          <p:nvPr/>
        </p:nvSpPr>
        <p:spPr>
          <a:xfrm>
            <a:off x="6094476" y="4224528"/>
            <a:ext cx="205667" cy="45720"/>
          </a:xfrm>
          <a:prstGeom prst="rect">
            <a:avLst/>
          </a:prstGeom>
          <a:solidFill>
            <a:srgbClr val="F24B73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6822" y="4224528"/>
            <a:ext cx="205667" cy="45720"/>
          </a:xfrm>
          <a:prstGeom prst="rect">
            <a:avLst/>
          </a:prstGeom>
          <a:solidFill>
            <a:srgbClr val="F24874"/>
          </a:solidFill>
          <a:ln/>
        </p:spPr>
      </p:sp>
      <p:sp>
        <p:nvSpPr>
          <p:cNvPr id="35" name="Shape 33"/>
          <p:cNvSpPr/>
          <p:nvPr/>
        </p:nvSpPr>
        <p:spPr>
          <a:xfrm>
            <a:off x="6399167" y="4224528"/>
            <a:ext cx="205667" cy="45720"/>
          </a:xfrm>
          <a:prstGeom prst="rect">
            <a:avLst/>
          </a:prstGeom>
          <a:solidFill>
            <a:srgbClr val="F14675"/>
          </a:solidFill>
          <a:ln/>
        </p:spPr>
      </p:sp>
      <p:sp>
        <p:nvSpPr>
          <p:cNvPr id="36" name="Shape 34"/>
          <p:cNvSpPr/>
          <p:nvPr/>
        </p:nvSpPr>
        <p:spPr>
          <a:xfrm>
            <a:off x="6551513" y="4224528"/>
            <a:ext cx="205667" cy="45720"/>
          </a:xfrm>
          <a:prstGeom prst="rect">
            <a:avLst/>
          </a:prstGeom>
          <a:solidFill>
            <a:srgbClr val="EE4679"/>
          </a:solidFill>
          <a:ln/>
        </p:spPr>
      </p:sp>
      <p:sp>
        <p:nvSpPr>
          <p:cNvPr id="37" name="Shape 35"/>
          <p:cNvSpPr/>
          <p:nvPr/>
        </p:nvSpPr>
        <p:spPr>
          <a:xfrm>
            <a:off x="6703858" y="4224528"/>
            <a:ext cx="205667" cy="45720"/>
          </a:xfrm>
          <a:prstGeom prst="rect">
            <a:avLst/>
          </a:prstGeom>
          <a:solidFill>
            <a:srgbClr val="EA487E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6204" y="4224528"/>
            <a:ext cx="205667" cy="45720"/>
          </a:xfrm>
          <a:prstGeom prst="rect">
            <a:avLst/>
          </a:prstGeom>
          <a:solidFill>
            <a:srgbClr val="E64A83"/>
          </a:solidFill>
          <a:ln/>
        </p:spPr>
      </p:sp>
      <p:sp>
        <p:nvSpPr>
          <p:cNvPr id="39" name="Shape 37"/>
          <p:cNvSpPr/>
          <p:nvPr/>
        </p:nvSpPr>
        <p:spPr>
          <a:xfrm>
            <a:off x="7008549" y="4224528"/>
            <a:ext cx="205667" cy="45720"/>
          </a:xfrm>
          <a:prstGeom prst="rect">
            <a:avLst/>
          </a:prstGeom>
          <a:solidFill>
            <a:srgbClr val="E34C88"/>
          </a:solidFill>
          <a:ln/>
        </p:spPr>
      </p:sp>
      <p:sp>
        <p:nvSpPr>
          <p:cNvPr id="40" name="Shape 38"/>
          <p:cNvSpPr/>
          <p:nvPr/>
        </p:nvSpPr>
        <p:spPr>
          <a:xfrm>
            <a:off x="7160895" y="4224528"/>
            <a:ext cx="205667" cy="45720"/>
          </a:xfrm>
          <a:prstGeom prst="rect">
            <a:avLst/>
          </a:prstGeom>
          <a:solidFill>
            <a:srgbClr val="DF4D8D"/>
          </a:solidFill>
          <a:ln/>
        </p:spPr>
      </p:sp>
      <p:sp>
        <p:nvSpPr>
          <p:cNvPr id="41" name="Shape 39"/>
          <p:cNvSpPr/>
          <p:nvPr/>
        </p:nvSpPr>
        <p:spPr>
          <a:xfrm>
            <a:off x="7313241" y="4224528"/>
            <a:ext cx="205667" cy="45720"/>
          </a:xfrm>
          <a:prstGeom prst="rect">
            <a:avLst/>
          </a:prstGeom>
          <a:solidFill>
            <a:srgbClr val="DB4F93"/>
          </a:solidFill>
          <a:ln/>
        </p:spPr>
      </p:sp>
      <p:sp>
        <p:nvSpPr>
          <p:cNvPr id="42" name="Shape 40"/>
          <p:cNvSpPr/>
          <p:nvPr/>
        </p:nvSpPr>
        <p:spPr>
          <a:xfrm>
            <a:off x="7465586" y="4224528"/>
            <a:ext cx="205667" cy="45720"/>
          </a:xfrm>
          <a:prstGeom prst="rect">
            <a:avLst/>
          </a:prstGeom>
          <a:solidFill>
            <a:srgbClr val="D75198"/>
          </a:solidFill>
          <a:ln/>
        </p:spPr>
      </p:sp>
      <p:sp>
        <p:nvSpPr>
          <p:cNvPr id="43" name="Shape 41"/>
          <p:cNvSpPr/>
          <p:nvPr/>
        </p:nvSpPr>
        <p:spPr>
          <a:xfrm>
            <a:off x="7617932" y="4224528"/>
            <a:ext cx="205667" cy="45720"/>
          </a:xfrm>
          <a:prstGeom prst="rect">
            <a:avLst/>
          </a:prstGeom>
          <a:solidFill>
            <a:srgbClr val="D3529D"/>
          </a:solidFill>
          <a:ln/>
        </p:spPr>
      </p:sp>
      <p:sp>
        <p:nvSpPr>
          <p:cNvPr id="44" name="Shape 42"/>
          <p:cNvSpPr/>
          <p:nvPr/>
        </p:nvSpPr>
        <p:spPr>
          <a:xfrm>
            <a:off x="7770277" y="4224528"/>
            <a:ext cx="205667" cy="45720"/>
          </a:xfrm>
          <a:prstGeom prst="rect">
            <a:avLst/>
          </a:prstGeom>
          <a:solidFill>
            <a:srgbClr val="CF54A2"/>
          </a:solidFill>
          <a:ln/>
        </p:spPr>
      </p:sp>
      <p:sp>
        <p:nvSpPr>
          <p:cNvPr id="45" name="Shape 43"/>
          <p:cNvSpPr/>
          <p:nvPr/>
        </p:nvSpPr>
        <p:spPr>
          <a:xfrm>
            <a:off x="7922623" y="4224528"/>
            <a:ext cx="205667" cy="45720"/>
          </a:xfrm>
          <a:prstGeom prst="rect">
            <a:avLst/>
          </a:prstGeom>
          <a:solidFill>
            <a:srgbClr val="CC56A7"/>
          </a:solidFill>
          <a:ln/>
        </p:spPr>
      </p:sp>
      <p:sp>
        <p:nvSpPr>
          <p:cNvPr id="46" name="Shape 44"/>
          <p:cNvSpPr/>
          <p:nvPr/>
        </p:nvSpPr>
        <p:spPr>
          <a:xfrm>
            <a:off x="8074968" y="4224528"/>
            <a:ext cx="205667" cy="45720"/>
          </a:xfrm>
          <a:prstGeom prst="rect">
            <a:avLst/>
          </a:prstGeom>
          <a:solidFill>
            <a:srgbClr val="C858AC"/>
          </a:solidFill>
          <a:ln/>
        </p:spPr>
      </p:sp>
      <p:sp>
        <p:nvSpPr>
          <p:cNvPr id="47" name="Shape 45"/>
          <p:cNvSpPr/>
          <p:nvPr/>
        </p:nvSpPr>
        <p:spPr>
          <a:xfrm>
            <a:off x="8227314" y="4224528"/>
            <a:ext cx="205667" cy="45720"/>
          </a:xfrm>
          <a:prstGeom prst="rect">
            <a:avLst/>
          </a:prstGeom>
          <a:solidFill>
            <a:srgbClr val="C459B1"/>
          </a:solidFill>
          <a:ln/>
        </p:spPr>
      </p:sp>
      <p:sp>
        <p:nvSpPr>
          <p:cNvPr id="48" name="Shape 46"/>
          <p:cNvSpPr/>
          <p:nvPr/>
        </p:nvSpPr>
        <p:spPr>
          <a:xfrm>
            <a:off x="8379660" y="4224528"/>
            <a:ext cx="205667" cy="45720"/>
          </a:xfrm>
          <a:prstGeom prst="rect">
            <a:avLst/>
          </a:prstGeom>
          <a:solidFill>
            <a:srgbClr val="C05BB6"/>
          </a:solidFill>
          <a:ln/>
        </p:spPr>
      </p:sp>
      <p:sp>
        <p:nvSpPr>
          <p:cNvPr id="49" name="Shape 47"/>
          <p:cNvSpPr/>
          <p:nvPr/>
        </p:nvSpPr>
        <p:spPr>
          <a:xfrm>
            <a:off x="8532005" y="4224528"/>
            <a:ext cx="205667" cy="45720"/>
          </a:xfrm>
          <a:prstGeom prst="rect">
            <a:avLst/>
          </a:prstGeom>
          <a:solidFill>
            <a:srgbClr val="BC5DBC"/>
          </a:solidFill>
          <a:ln/>
        </p:spPr>
      </p:sp>
      <p:sp>
        <p:nvSpPr>
          <p:cNvPr id="50" name="Shape 48"/>
          <p:cNvSpPr/>
          <p:nvPr/>
        </p:nvSpPr>
        <p:spPr>
          <a:xfrm>
            <a:off x="8684351" y="4224528"/>
            <a:ext cx="205667" cy="45720"/>
          </a:xfrm>
          <a:prstGeom prst="rect">
            <a:avLst/>
          </a:prstGeom>
          <a:solidFill>
            <a:srgbClr val="B85FC1"/>
          </a:solidFill>
          <a:ln/>
        </p:spPr>
      </p:sp>
      <p:sp>
        <p:nvSpPr>
          <p:cNvPr id="51" name="Shape 49"/>
          <p:cNvSpPr/>
          <p:nvPr/>
        </p:nvSpPr>
        <p:spPr>
          <a:xfrm>
            <a:off x="8836696" y="4224528"/>
            <a:ext cx="205667" cy="45720"/>
          </a:xfrm>
          <a:prstGeom prst="rect">
            <a:avLst/>
          </a:prstGeom>
          <a:solidFill>
            <a:srgbClr val="B560C6"/>
          </a:solidFill>
          <a:ln/>
        </p:spPr>
      </p:sp>
      <p:sp>
        <p:nvSpPr>
          <p:cNvPr id="52" name="Shape 50"/>
          <p:cNvSpPr/>
          <p:nvPr/>
        </p:nvSpPr>
        <p:spPr>
          <a:xfrm>
            <a:off x="8989042" y="4224528"/>
            <a:ext cx="205667" cy="45720"/>
          </a:xfrm>
          <a:prstGeom prst="rect">
            <a:avLst/>
          </a:prstGeom>
          <a:solidFill>
            <a:srgbClr val="B162CB"/>
          </a:solidFill>
          <a:ln/>
        </p:spPr>
      </p:sp>
      <p:sp>
        <p:nvSpPr>
          <p:cNvPr id="53" name="Shape 51"/>
          <p:cNvSpPr/>
          <p:nvPr/>
        </p:nvSpPr>
        <p:spPr>
          <a:xfrm>
            <a:off x="9141387" y="4224528"/>
            <a:ext cx="205667" cy="45720"/>
          </a:xfrm>
          <a:prstGeom prst="rect">
            <a:avLst/>
          </a:prstGeom>
          <a:solidFill>
            <a:srgbClr val="AD64D0"/>
          </a:solidFill>
          <a:ln/>
        </p:spPr>
      </p:sp>
      <p:sp>
        <p:nvSpPr>
          <p:cNvPr id="54" name="Shape 52"/>
          <p:cNvSpPr/>
          <p:nvPr/>
        </p:nvSpPr>
        <p:spPr>
          <a:xfrm>
            <a:off x="9293733" y="4224528"/>
            <a:ext cx="205667" cy="45720"/>
          </a:xfrm>
          <a:prstGeom prst="rect">
            <a:avLst/>
          </a:prstGeom>
          <a:solidFill>
            <a:srgbClr val="A966D5"/>
          </a:solidFill>
          <a:ln/>
        </p:spPr>
      </p:sp>
      <p:sp>
        <p:nvSpPr>
          <p:cNvPr id="55" name="Shape 53"/>
          <p:cNvSpPr/>
          <p:nvPr/>
        </p:nvSpPr>
        <p:spPr>
          <a:xfrm>
            <a:off x="9446079" y="4224528"/>
            <a:ext cx="205667" cy="45720"/>
          </a:xfrm>
          <a:prstGeom prst="rect">
            <a:avLst/>
          </a:prstGeom>
          <a:solidFill>
            <a:srgbClr val="A567DA"/>
          </a:solidFill>
          <a:ln/>
        </p:spPr>
      </p:sp>
      <p:sp>
        <p:nvSpPr>
          <p:cNvPr id="56" name="Shape 54"/>
          <p:cNvSpPr/>
          <p:nvPr/>
        </p:nvSpPr>
        <p:spPr>
          <a:xfrm>
            <a:off x="9598424" y="4224528"/>
            <a:ext cx="205667" cy="45720"/>
          </a:xfrm>
          <a:prstGeom prst="rect">
            <a:avLst/>
          </a:prstGeom>
          <a:solidFill>
            <a:srgbClr val="A169DF"/>
          </a:solidFill>
          <a:ln/>
        </p:spPr>
      </p:sp>
      <p:sp>
        <p:nvSpPr>
          <p:cNvPr id="57" name="Shape 55"/>
          <p:cNvSpPr/>
          <p:nvPr/>
        </p:nvSpPr>
        <p:spPr>
          <a:xfrm>
            <a:off x="9750770" y="4224528"/>
            <a:ext cx="205667" cy="45720"/>
          </a:xfrm>
          <a:prstGeom prst="rect">
            <a:avLst/>
          </a:prstGeom>
          <a:solidFill>
            <a:srgbClr val="9E6BE5"/>
          </a:solidFill>
          <a:ln/>
        </p:spPr>
      </p:sp>
      <p:sp>
        <p:nvSpPr>
          <p:cNvPr id="58" name="Shape 56"/>
          <p:cNvSpPr/>
          <p:nvPr/>
        </p:nvSpPr>
        <p:spPr>
          <a:xfrm>
            <a:off x="9903115" y="4224528"/>
            <a:ext cx="205667" cy="45720"/>
          </a:xfrm>
          <a:prstGeom prst="rect">
            <a:avLst/>
          </a:prstGeom>
          <a:solidFill>
            <a:srgbClr val="9A6DEA"/>
          </a:solidFill>
          <a:ln/>
        </p:spPr>
      </p:sp>
      <p:sp>
        <p:nvSpPr>
          <p:cNvPr id="59" name="Shape 57"/>
          <p:cNvSpPr/>
          <p:nvPr/>
        </p:nvSpPr>
        <p:spPr>
          <a:xfrm>
            <a:off x="10055461" y="4224528"/>
            <a:ext cx="205667" cy="45720"/>
          </a:xfrm>
          <a:prstGeom prst="rect">
            <a:avLst/>
          </a:prstGeom>
          <a:solidFill>
            <a:srgbClr val="966EEF"/>
          </a:solidFill>
          <a:ln/>
        </p:spPr>
      </p:sp>
      <p:sp>
        <p:nvSpPr>
          <p:cNvPr id="60" name="Shape 58"/>
          <p:cNvSpPr/>
          <p:nvPr/>
        </p:nvSpPr>
        <p:spPr>
          <a:xfrm>
            <a:off x="10207806" y="4224528"/>
            <a:ext cx="205667" cy="45720"/>
          </a:xfrm>
          <a:prstGeom prst="rect">
            <a:avLst/>
          </a:prstGeom>
          <a:solidFill>
            <a:srgbClr val="9270F4"/>
          </a:solidFill>
          <a:ln/>
        </p:spPr>
      </p:sp>
      <p:sp>
        <p:nvSpPr>
          <p:cNvPr id="61" name="Shape 59"/>
          <p:cNvSpPr/>
          <p:nvPr/>
        </p:nvSpPr>
        <p:spPr>
          <a:xfrm>
            <a:off x="1746504" y="4165092"/>
            <a:ext cx="164592" cy="164592"/>
          </a:xfrm>
          <a:prstGeom prst="ellipse">
            <a:avLst/>
          </a:prstGeom>
          <a:solidFill>
            <a:srgbClr val="FF9656"/>
          </a:solidFill>
          <a:ln w="19050">
            <a:solidFill>
              <a:srgbClr val="0A0A1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88720" y="44256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168396" y="4165092"/>
            <a:ext cx="164592" cy="164592"/>
          </a:xfrm>
          <a:prstGeom prst="ellipse">
            <a:avLst/>
          </a:prstGeom>
          <a:solidFill>
            <a:srgbClr val="FB7D5F"/>
          </a:solidFill>
          <a:ln w="19050">
            <a:solidFill>
              <a:srgbClr val="0A0A1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10612" y="44256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590288" y="4165092"/>
            <a:ext cx="164592" cy="164592"/>
          </a:xfrm>
          <a:prstGeom prst="ellipse">
            <a:avLst/>
          </a:prstGeom>
          <a:solidFill>
            <a:srgbClr val="F76569"/>
          </a:solidFill>
          <a:ln w="19050">
            <a:solidFill>
              <a:srgbClr val="0A0A1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32504" y="44256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012180" y="4165092"/>
            <a:ext cx="164592" cy="164592"/>
          </a:xfrm>
          <a:prstGeom prst="ellipse">
            <a:avLst/>
          </a:prstGeom>
          <a:solidFill>
            <a:srgbClr val="F24C72"/>
          </a:solidFill>
          <a:ln w="19050">
            <a:solidFill>
              <a:srgbClr val="0A0A1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54396" y="44256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7434072" y="4165092"/>
            <a:ext cx="164592" cy="164592"/>
          </a:xfrm>
          <a:prstGeom prst="ellipse">
            <a:avLst/>
          </a:prstGeom>
          <a:solidFill>
            <a:srgbClr val="D85096"/>
          </a:solidFill>
          <a:ln w="19050">
            <a:solidFill>
              <a:srgbClr val="0A0A1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76288" y="44256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855964" y="4165092"/>
            <a:ext cx="164592" cy="164592"/>
          </a:xfrm>
          <a:prstGeom prst="ellipse">
            <a:avLst/>
          </a:prstGeom>
          <a:solidFill>
            <a:srgbClr val="B560C5"/>
          </a:solidFill>
          <a:ln w="19050">
            <a:solidFill>
              <a:srgbClr val="0A0A1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98180" y="44256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10277856" y="4165092"/>
            <a:ext cx="164592" cy="164592"/>
          </a:xfrm>
          <a:prstGeom prst="ellipse">
            <a:avLst/>
          </a:prstGeom>
          <a:solidFill>
            <a:srgbClr val="9270F4"/>
          </a:solidFill>
          <a:ln w="19050">
            <a:solidFill>
              <a:srgbClr val="0A0A1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720072" y="44256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3355848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7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“Strava for the research process.”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3355848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throughline-studio.vercel.app   ·   Syed Asrar   ·   June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0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breaks at the handoffs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social-science researcher stitches one project across a reference manager, a notes app, a survey platform, a stats package, and a word processor. Each is good at its slice. None of them know about each other.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74320" cy="27432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300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7889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construct you operationalized isn’t linked to the theory you chose.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547872"/>
            <a:ext cx="274320" cy="27432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433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502152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test you ran isn’t linked to the gap you claimed in your introduction.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261104"/>
            <a:ext cx="274320" cy="27432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2565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4215384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decision-chain lives only in your head — it leaks at every copy-paste.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5897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145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lose marks and papers get desk-rejected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not because the idea was bad, but because the chain broke.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35240" y="132588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2C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manager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81160" y="1929384"/>
            <a:ext cx="0" cy="411480"/>
          </a:xfrm>
          <a:prstGeom prst="line">
            <a:avLst/>
          </a:prstGeom>
          <a:noFill/>
          <a:ln w="15875">
            <a:solidFill>
              <a:srgbClr val="DC262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180576" y="2034540"/>
            <a:ext cx="201168" cy="201168"/>
          </a:xfrm>
          <a:prstGeom prst="ellipse">
            <a:avLst/>
          </a:prstGeom>
          <a:solidFill>
            <a:srgbClr val="FBF7E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0576" y="20299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464040" y="20071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re-typing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35240" y="237744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2C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 app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81160" y="2980944"/>
            <a:ext cx="0" cy="411480"/>
          </a:xfrm>
          <a:prstGeom prst="line">
            <a:avLst/>
          </a:prstGeom>
          <a:noFill/>
          <a:ln w="15875">
            <a:solidFill>
              <a:srgbClr val="DC262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180576" y="3086100"/>
            <a:ext cx="201168" cy="201168"/>
          </a:xfrm>
          <a:prstGeom prst="ellipse">
            <a:avLst/>
          </a:prstGeom>
          <a:solidFill>
            <a:srgbClr val="FBF7E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0576" y="30815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464040" y="30586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re-typing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35240" y="342900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2C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Survey platform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281160" y="4032504"/>
            <a:ext cx="0" cy="411480"/>
          </a:xfrm>
          <a:prstGeom prst="line">
            <a:avLst/>
          </a:prstGeom>
          <a:noFill/>
          <a:ln w="15875">
            <a:solidFill>
              <a:srgbClr val="DC262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180576" y="4137660"/>
            <a:ext cx="201168" cy="201168"/>
          </a:xfrm>
          <a:prstGeom prst="ellipse">
            <a:avLst/>
          </a:prstGeom>
          <a:solidFill>
            <a:srgbClr val="FBF7E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0576" y="41330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464040" y="41102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re-typing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35240" y="44805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2C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Stats package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281160" y="5084064"/>
            <a:ext cx="0" cy="411480"/>
          </a:xfrm>
          <a:prstGeom prst="line">
            <a:avLst/>
          </a:prstGeom>
          <a:noFill/>
          <a:ln w="15875">
            <a:solidFill>
              <a:srgbClr val="DC262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180576" y="5189220"/>
            <a:ext cx="201168" cy="201168"/>
          </a:xfrm>
          <a:prstGeom prst="ellipse">
            <a:avLst/>
          </a:prstGeom>
          <a:solidFill>
            <a:srgbClr val="FBF7E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80576" y="5184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464040" y="51617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re-typing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35240" y="553212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2C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 processor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Throughline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0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workspace. Seven stages. The chain holds.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project advances along one spine — every stage carries its output forward as structured data, not a PDF you re-type.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325880" y="3822192"/>
            <a:ext cx="229914" cy="45720"/>
          </a:xfrm>
          <a:prstGeom prst="rect">
            <a:avLst/>
          </a:prstGeom>
          <a:solidFill>
            <a:srgbClr val="FF9656"/>
          </a:solidFill>
          <a:ln/>
        </p:spPr>
      </p:sp>
      <p:sp>
        <p:nvSpPr>
          <p:cNvPr id="5" name="Shape 3"/>
          <p:cNvSpPr/>
          <p:nvPr/>
        </p:nvSpPr>
        <p:spPr>
          <a:xfrm>
            <a:off x="1496187" y="3822192"/>
            <a:ext cx="229914" cy="45720"/>
          </a:xfrm>
          <a:prstGeom prst="rect">
            <a:avLst/>
          </a:prstGeom>
          <a:solidFill>
            <a:srgbClr val="FF9357"/>
          </a:solidFill>
          <a:ln/>
        </p:spPr>
      </p:sp>
      <p:sp>
        <p:nvSpPr>
          <p:cNvPr id="6" name="Shape 4"/>
          <p:cNvSpPr/>
          <p:nvPr/>
        </p:nvSpPr>
        <p:spPr>
          <a:xfrm>
            <a:off x="1666494" y="3822192"/>
            <a:ext cx="229914" cy="45720"/>
          </a:xfrm>
          <a:prstGeom prst="rect">
            <a:avLst/>
          </a:prstGeom>
          <a:solidFill>
            <a:srgbClr val="FE9158"/>
          </a:solidFill>
          <a:ln/>
        </p:spPr>
      </p:sp>
      <p:sp>
        <p:nvSpPr>
          <p:cNvPr id="7" name="Shape 5"/>
          <p:cNvSpPr/>
          <p:nvPr/>
        </p:nvSpPr>
        <p:spPr>
          <a:xfrm>
            <a:off x="1836801" y="3822192"/>
            <a:ext cx="229914" cy="45720"/>
          </a:xfrm>
          <a:prstGeom prst="rect">
            <a:avLst/>
          </a:prstGeom>
          <a:solidFill>
            <a:srgbClr val="FE8E59"/>
          </a:solidFill>
          <a:ln/>
        </p:spPr>
      </p:sp>
      <p:sp>
        <p:nvSpPr>
          <p:cNvPr id="8" name="Shape 6"/>
          <p:cNvSpPr/>
          <p:nvPr/>
        </p:nvSpPr>
        <p:spPr>
          <a:xfrm>
            <a:off x="2007108" y="3822192"/>
            <a:ext cx="229914" cy="45720"/>
          </a:xfrm>
          <a:prstGeom prst="rect">
            <a:avLst/>
          </a:prstGeom>
          <a:solidFill>
            <a:srgbClr val="FD8B5A"/>
          </a:solidFill>
          <a:ln/>
        </p:spPr>
      </p:sp>
      <p:sp>
        <p:nvSpPr>
          <p:cNvPr id="9" name="Shape 7"/>
          <p:cNvSpPr/>
          <p:nvPr/>
        </p:nvSpPr>
        <p:spPr>
          <a:xfrm>
            <a:off x="2177415" y="3822192"/>
            <a:ext cx="229914" cy="45720"/>
          </a:xfrm>
          <a:prstGeom prst="rect">
            <a:avLst/>
          </a:prstGeom>
          <a:solidFill>
            <a:srgbClr val="FD895B"/>
          </a:solidFill>
          <a:ln/>
        </p:spPr>
      </p:sp>
      <p:sp>
        <p:nvSpPr>
          <p:cNvPr id="10" name="Shape 8"/>
          <p:cNvSpPr/>
          <p:nvPr/>
        </p:nvSpPr>
        <p:spPr>
          <a:xfrm>
            <a:off x="2347722" y="3822192"/>
            <a:ext cx="229914" cy="45720"/>
          </a:xfrm>
          <a:prstGeom prst="rect">
            <a:avLst/>
          </a:prstGeom>
          <a:solidFill>
            <a:srgbClr val="FC865C"/>
          </a:solidFill>
          <a:ln/>
        </p:spPr>
      </p:sp>
      <p:sp>
        <p:nvSpPr>
          <p:cNvPr id="11" name="Shape 9"/>
          <p:cNvSpPr/>
          <p:nvPr/>
        </p:nvSpPr>
        <p:spPr>
          <a:xfrm>
            <a:off x="2518029" y="3822192"/>
            <a:ext cx="229914" cy="45720"/>
          </a:xfrm>
          <a:prstGeom prst="rect">
            <a:avLst/>
          </a:prstGeom>
          <a:solidFill>
            <a:srgbClr val="FC835D"/>
          </a:solidFill>
          <a:ln/>
        </p:spPr>
      </p:sp>
      <p:sp>
        <p:nvSpPr>
          <p:cNvPr id="12" name="Shape 10"/>
          <p:cNvSpPr/>
          <p:nvPr/>
        </p:nvSpPr>
        <p:spPr>
          <a:xfrm>
            <a:off x="2688336" y="3822192"/>
            <a:ext cx="229914" cy="45720"/>
          </a:xfrm>
          <a:prstGeom prst="rect">
            <a:avLst/>
          </a:prstGeom>
          <a:solidFill>
            <a:srgbClr val="FB815E"/>
          </a:solidFill>
          <a:ln/>
        </p:spPr>
      </p:sp>
      <p:sp>
        <p:nvSpPr>
          <p:cNvPr id="13" name="Shape 11"/>
          <p:cNvSpPr/>
          <p:nvPr/>
        </p:nvSpPr>
        <p:spPr>
          <a:xfrm>
            <a:off x="2858643" y="3822192"/>
            <a:ext cx="229914" cy="45720"/>
          </a:xfrm>
          <a:prstGeom prst="rect">
            <a:avLst/>
          </a:prstGeom>
          <a:solidFill>
            <a:srgbClr val="FB7E5F"/>
          </a:solidFill>
          <a:ln/>
        </p:spPr>
      </p:sp>
      <p:sp>
        <p:nvSpPr>
          <p:cNvPr id="14" name="Shape 12"/>
          <p:cNvSpPr/>
          <p:nvPr/>
        </p:nvSpPr>
        <p:spPr>
          <a:xfrm>
            <a:off x="3028950" y="3822192"/>
            <a:ext cx="229914" cy="45720"/>
          </a:xfrm>
          <a:prstGeom prst="rect">
            <a:avLst/>
          </a:prstGeom>
          <a:solidFill>
            <a:srgbClr val="FA7B60"/>
          </a:solidFill>
          <a:ln/>
        </p:spPr>
      </p:sp>
      <p:sp>
        <p:nvSpPr>
          <p:cNvPr id="15" name="Shape 13"/>
          <p:cNvSpPr/>
          <p:nvPr/>
        </p:nvSpPr>
        <p:spPr>
          <a:xfrm>
            <a:off x="3199257" y="3822192"/>
            <a:ext cx="229914" cy="45720"/>
          </a:xfrm>
          <a:prstGeom prst="rect">
            <a:avLst/>
          </a:prstGeom>
          <a:solidFill>
            <a:srgbClr val="FA7961"/>
          </a:solidFill>
          <a:ln/>
        </p:spPr>
      </p:sp>
      <p:sp>
        <p:nvSpPr>
          <p:cNvPr id="16" name="Shape 14"/>
          <p:cNvSpPr/>
          <p:nvPr/>
        </p:nvSpPr>
        <p:spPr>
          <a:xfrm>
            <a:off x="3369564" y="3822192"/>
            <a:ext cx="229914" cy="45720"/>
          </a:xfrm>
          <a:prstGeom prst="rect">
            <a:avLst/>
          </a:prstGeom>
          <a:solidFill>
            <a:srgbClr val="F97662"/>
          </a:solidFill>
          <a:ln/>
        </p:spPr>
      </p:sp>
      <p:sp>
        <p:nvSpPr>
          <p:cNvPr id="17" name="Shape 15"/>
          <p:cNvSpPr/>
          <p:nvPr/>
        </p:nvSpPr>
        <p:spPr>
          <a:xfrm>
            <a:off x="3539871" y="3822192"/>
            <a:ext cx="229914" cy="45720"/>
          </a:xfrm>
          <a:prstGeom prst="rect">
            <a:avLst/>
          </a:prstGeom>
          <a:solidFill>
            <a:srgbClr val="F97363"/>
          </a:solidFill>
          <a:ln/>
        </p:spPr>
      </p:sp>
      <p:sp>
        <p:nvSpPr>
          <p:cNvPr id="18" name="Shape 16"/>
          <p:cNvSpPr/>
          <p:nvPr/>
        </p:nvSpPr>
        <p:spPr>
          <a:xfrm>
            <a:off x="3710178" y="3822192"/>
            <a:ext cx="229914" cy="45720"/>
          </a:xfrm>
          <a:prstGeom prst="rect">
            <a:avLst/>
          </a:prstGeom>
          <a:solidFill>
            <a:srgbClr val="F97164"/>
          </a:solidFill>
          <a:ln/>
        </p:spPr>
      </p:sp>
      <p:sp>
        <p:nvSpPr>
          <p:cNvPr id="19" name="Shape 17"/>
          <p:cNvSpPr/>
          <p:nvPr/>
        </p:nvSpPr>
        <p:spPr>
          <a:xfrm>
            <a:off x="3880485" y="3822192"/>
            <a:ext cx="229914" cy="45720"/>
          </a:xfrm>
          <a:prstGeom prst="rect">
            <a:avLst/>
          </a:prstGeom>
          <a:solidFill>
            <a:srgbClr val="F86E65"/>
          </a:solidFill>
          <a:ln/>
        </p:spPr>
      </p:sp>
      <p:sp>
        <p:nvSpPr>
          <p:cNvPr id="20" name="Shape 18"/>
          <p:cNvSpPr/>
          <p:nvPr/>
        </p:nvSpPr>
        <p:spPr>
          <a:xfrm>
            <a:off x="4050792" y="3822192"/>
            <a:ext cx="229914" cy="45720"/>
          </a:xfrm>
          <a:prstGeom prst="rect">
            <a:avLst/>
          </a:prstGeom>
          <a:solidFill>
            <a:srgbClr val="F86B66"/>
          </a:solidFill>
          <a:ln/>
        </p:spPr>
      </p:sp>
      <p:sp>
        <p:nvSpPr>
          <p:cNvPr id="21" name="Shape 19"/>
          <p:cNvSpPr/>
          <p:nvPr/>
        </p:nvSpPr>
        <p:spPr>
          <a:xfrm>
            <a:off x="4221099" y="3822192"/>
            <a:ext cx="229914" cy="45720"/>
          </a:xfrm>
          <a:prstGeom prst="rect">
            <a:avLst/>
          </a:prstGeom>
          <a:solidFill>
            <a:srgbClr val="F76867"/>
          </a:solidFill>
          <a:ln/>
        </p:spPr>
      </p:sp>
      <p:sp>
        <p:nvSpPr>
          <p:cNvPr id="22" name="Shape 20"/>
          <p:cNvSpPr/>
          <p:nvPr/>
        </p:nvSpPr>
        <p:spPr>
          <a:xfrm>
            <a:off x="4391406" y="3822192"/>
            <a:ext cx="229914" cy="45720"/>
          </a:xfrm>
          <a:prstGeom prst="rect">
            <a:avLst/>
          </a:prstGeom>
          <a:solidFill>
            <a:srgbClr val="F76668"/>
          </a:solidFill>
          <a:ln/>
        </p:spPr>
      </p:sp>
      <p:sp>
        <p:nvSpPr>
          <p:cNvPr id="23" name="Shape 21"/>
          <p:cNvSpPr/>
          <p:nvPr/>
        </p:nvSpPr>
        <p:spPr>
          <a:xfrm>
            <a:off x="4561713" y="3822192"/>
            <a:ext cx="229914" cy="45720"/>
          </a:xfrm>
          <a:prstGeom prst="rect">
            <a:avLst/>
          </a:prstGeom>
          <a:solidFill>
            <a:srgbClr val="F66369"/>
          </a:solidFill>
          <a:ln/>
        </p:spPr>
      </p:sp>
      <p:sp>
        <p:nvSpPr>
          <p:cNvPr id="24" name="Shape 22"/>
          <p:cNvSpPr/>
          <p:nvPr/>
        </p:nvSpPr>
        <p:spPr>
          <a:xfrm>
            <a:off x="4732020" y="3822192"/>
            <a:ext cx="229914" cy="45720"/>
          </a:xfrm>
          <a:prstGeom prst="rect">
            <a:avLst/>
          </a:prstGeom>
          <a:solidFill>
            <a:srgbClr val="F6606A"/>
          </a:solidFill>
          <a:ln/>
        </p:spPr>
      </p:sp>
      <p:sp>
        <p:nvSpPr>
          <p:cNvPr id="25" name="Shape 23"/>
          <p:cNvSpPr/>
          <p:nvPr/>
        </p:nvSpPr>
        <p:spPr>
          <a:xfrm>
            <a:off x="4902327" y="3822192"/>
            <a:ext cx="229914" cy="45720"/>
          </a:xfrm>
          <a:prstGeom prst="rect">
            <a:avLst/>
          </a:prstGeom>
          <a:solidFill>
            <a:srgbClr val="F55E6C"/>
          </a:solidFill>
          <a:ln/>
        </p:spPr>
      </p:sp>
      <p:sp>
        <p:nvSpPr>
          <p:cNvPr id="26" name="Shape 24"/>
          <p:cNvSpPr/>
          <p:nvPr/>
        </p:nvSpPr>
        <p:spPr>
          <a:xfrm>
            <a:off x="5072634" y="3822192"/>
            <a:ext cx="229914" cy="45720"/>
          </a:xfrm>
          <a:prstGeom prst="rect">
            <a:avLst/>
          </a:prstGeom>
          <a:solidFill>
            <a:srgbClr val="F55B6D"/>
          </a:solidFill>
          <a:ln/>
        </p:spPr>
      </p:sp>
      <p:sp>
        <p:nvSpPr>
          <p:cNvPr id="27" name="Shape 25"/>
          <p:cNvSpPr/>
          <p:nvPr/>
        </p:nvSpPr>
        <p:spPr>
          <a:xfrm>
            <a:off x="5242941" y="3822192"/>
            <a:ext cx="229914" cy="45720"/>
          </a:xfrm>
          <a:prstGeom prst="rect">
            <a:avLst/>
          </a:prstGeom>
          <a:solidFill>
            <a:srgbClr val="F4586E"/>
          </a:solidFill>
          <a:ln/>
        </p:spPr>
      </p:sp>
      <p:sp>
        <p:nvSpPr>
          <p:cNvPr id="28" name="Shape 26"/>
          <p:cNvSpPr/>
          <p:nvPr/>
        </p:nvSpPr>
        <p:spPr>
          <a:xfrm>
            <a:off x="5413248" y="3822192"/>
            <a:ext cx="229914" cy="45720"/>
          </a:xfrm>
          <a:prstGeom prst="rect">
            <a:avLst/>
          </a:prstGeom>
          <a:solidFill>
            <a:srgbClr val="F4566F"/>
          </a:solidFill>
          <a:ln/>
        </p:spPr>
      </p:sp>
      <p:sp>
        <p:nvSpPr>
          <p:cNvPr id="29" name="Shape 27"/>
          <p:cNvSpPr/>
          <p:nvPr/>
        </p:nvSpPr>
        <p:spPr>
          <a:xfrm>
            <a:off x="5583555" y="3822192"/>
            <a:ext cx="229914" cy="45720"/>
          </a:xfrm>
          <a:prstGeom prst="rect">
            <a:avLst/>
          </a:prstGeom>
          <a:solidFill>
            <a:srgbClr val="F35370"/>
          </a:solidFill>
          <a:ln/>
        </p:spPr>
      </p:sp>
      <p:sp>
        <p:nvSpPr>
          <p:cNvPr id="30" name="Shape 28"/>
          <p:cNvSpPr/>
          <p:nvPr/>
        </p:nvSpPr>
        <p:spPr>
          <a:xfrm>
            <a:off x="5753862" y="3822192"/>
            <a:ext cx="229914" cy="45720"/>
          </a:xfrm>
          <a:prstGeom prst="rect">
            <a:avLst/>
          </a:prstGeom>
          <a:solidFill>
            <a:srgbClr val="F35071"/>
          </a:solidFill>
          <a:ln/>
        </p:spPr>
      </p:sp>
      <p:sp>
        <p:nvSpPr>
          <p:cNvPr id="31" name="Shape 29"/>
          <p:cNvSpPr/>
          <p:nvPr/>
        </p:nvSpPr>
        <p:spPr>
          <a:xfrm>
            <a:off x="5924169" y="3822192"/>
            <a:ext cx="229914" cy="45720"/>
          </a:xfrm>
          <a:prstGeom prst="rect">
            <a:avLst/>
          </a:prstGeom>
          <a:solidFill>
            <a:srgbClr val="F34E72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4476" y="3822192"/>
            <a:ext cx="229914" cy="45720"/>
          </a:xfrm>
          <a:prstGeom prst="rect">
            <a:avLst/>
          </a:prstGeom>
          <a:solidFill>
            <a:srgbClr val="F24B73"/>
          </a:solidFill>
          <a:ln/>
        </p:spPr>
      </p:sp>
      <p:sp>
        <p:nvSpPr>
          <p:cNvPr id="33" name="Shape 31"/>
          <p:cNvSpPr/>
          <p:nvPr/>
        </p:nvSpPr>
        <p:spPr>
          <a:xfrm>
            <a:off x="6264783" y="3822192"/>
            <a:ext cx="229914" cy="45720"/>
          </a:xfrm>
          <a:prstGeom prst="rect">
            <a:avLst/>
          </a:prstGeom>
          <a:solidFill>
            <a:srgbClr val="F24874"/>
          </a:solidFill>
          <a:ln/>
        </p:spPr>
      </p:sp>
      <p:sp>
        <p:nvSpPr>
          <p:cNvPr id="34" name="Shape 32"/>
          <p:cNvSpPr/>
          <p:nvPr/>
        </p:nvSpPr>
        <p:spPr>
          <a:xfrm>
            <a:off x="6435090" y="3822192"/>
            <a:ext cx="229914" cy="45720"/>
          </a:xfrm>
          <a:prstGeom prst="rect">
            <a:avLst/>
          </a:prstGeom>
          <a:solidFill>
            <a:srgbClr val="F14675"/>
          </a:solidFill>
          <a:ln/>
        </p:spPr>
      </p:sp>
      <p:sp>
        <p:nvSpPr>
          <p:cNvPr id="35" name="Shape 33"/>
          <p:cNvSpPr/>
          <p:nvPr/>
        </p:nvSpPr>
        <p:spPr>
          <a:xfrm>
            <a:off x="6605397" y="3822192"/>
            <a:ext cx="229914" cy="45720"/>
          </a:xfrm>
          <a:prstGeom prst="rect">
            <a:avLst/>
          </a:prstGeom>
          <a:solidFill>
            <a:srgbClr val="EE4679"/>
          </a:solidFill>
          <a:ln/>
        </p:spPr>
      </p:sp>
      <p:sp>
        <p:nvSpPr>
          <p:cNvPr id="36" name="Shape 34"/>
          <p:cNvSpPr/>
          <p:nvPr/>
        </p:nvSpPr>
        <p:spPr>
          <a:xfrm>
            <a:off x="6775704" y="3822192"/>
            <a:ext cx="229914" cy="45720"/>
          </a:xfrm>
          <a:prstGeom prst="rect">
            <a:avLst/>
          </a:prstGeom>
          <a:solidFill>
            <a:srgbClr val="EA487E"/>
          </a:solidFill>
          <a:ln/>
        </p:spPr>
      </p:sp>
      <p:sp>
        <p:nvSpPr>
          <p:cNvPr id="37" name="Shape 35"/>
          <p:cNvSpPr/>
          <p:nvPr/>
        </p:nvSpPr>
        <p:spPr>
          <a:xfrm>
            <a:off x="6946011" y="3822192"/>
            <a:ext cx="229914" cy="45720"/>
          </a:xfrm>
          <a:prstGeom prst="rect">
            <a:avLst/>
          </a:prstGeom>
          <a:solidFill>
            <a:srgbClr val="E64A83"/>
          </a:solidFill>
          <a:ln/>
        </p:spPr>
      </p:sp>
      <p:sp>
        <p:nvSpPr>
          <p:cNvPr id="38" name="Shape 36"/>
          <p:cNvSpPr/>
          <p:nvPr/>
        </p:nvSpPr>
        <p:spPr>
          <a:xfrm>
            <a:off x="7116318" y="3822192"/>
            <a:ext cx="229914" cy="45720"/>
          </a:xfrm>
          <a:prstGeom prst="rect">
            <a:avLst/>
          </a:prstGeom>
          <a:solidFill>
            <a:srgbClr val="E34C88"/>
          </a:solidFill>
          <a:ln/>
        </p:spPr>
      </p:sp>
      <p:sp>
        <p:nvSpPr>
          <p:cNvPr id="39" name="Shape 37"/>
          <p:cNvSpPr/>
          <p:nvPr/>
        </p:nvSpPr>
        <p:spPr>
          <a:xfrm>
            <a:off x="7286625" y="3822192"/>
            <a:ext cx="229914" cy="45720"/>
          </a:xfrm>
          <a:prstGeom prst="rect">
            <a:avLst/>
          </a:prstGeom>
          <a:solidFill>
            <a:srgbClr val="DF4D8D"/>
          </a:solidFill>
          <a:ln/>
        </p:spPr>
      </p:sp>
      <p:sp>
        <p:nvSpPr>
          <p:cNvPr id="40" name="Shape 38"/>
          <p:cNvSpPr/>
          <p:nvPr/>
        </p:nvSpPr>
        <p:spPr>
          <a:xfrm>
            <a:off x="7456932" y="3822192"/>
            <a:ext cx="229914" cy="45720"/>
          </a:xfrm>
          <a:prstGeom prst="rect">
            <a:avLst/>
          </a:prstGeom>
          <a:solidFill>
            <a:srgbClr val="DB4F93"/>
          </a:solidFill>
          <a:ln/>
        </p:spPr>
      </p:sp>
      <p:sp>
        <p:nvSpPr>
          <p:cNvPr id="41" name="Shape 39"/>
          <p:cNvSpPr/>
          <p:nvPr/>
        </p:nvSpPr>
        <p:spPr>
          <a:xfrm>
            <a:off x="7627239" y="3822192"/>
            <a:ext cx="229914" cy="45720"/>
          </a:xfrm>
          <a:prstGeom prst="rect">
            <a:avLst/>
          </a:prstGeom>
          <a:solidFill>
            <a:srgbClr val="D75198"/>
          </a:solidFill>
          <a:ln/>
        </p:spPr>
      </p:sp>
      <p:sp>
        <p:nvSpPr>
          <p:cNvPr id="42" name="Shape 40"/>
          <p:cNvSpPr/>
          <p:nvPr/>
        </p:nvSpPr>
        <p:spPr>
          <a:xfrm>
            <a:off x="7797546" y="3822192"/>
            <a:ext cx="229914" cy="45720"/>
          </a:xfrm>
          <a:prstGeom prst="rect">
            <a:avLst/>
          </a:prstGeom>
          <a:solidFill>
            <a:srgbClr val="D3529D"/>
          </a:solidFill>
          <a:ln/>
        </p:spPr>
      </p:sp>
      <p:sp>
        <p:nvSpPr>
          <p:cNvPr id="43" name="Shape 41"/>
          <p:cNvSpPr/>
          <p:nvPr/>
        </p:nvSpPr>
        <p:spPr>
          <a:xfrm>
            <a:off x="7967853" y="3822192"/>
            <a:ext cx="229914" cy="45720"/>
          </a:xfrm>
          <a:prstGeom prst="rect">
            <a:avLst/>
          </a:prstGeom>
          <a:solidFill>
            <a:srgbClr val="CF54A2"/>
          </a:solidFill>
          <a:ln/>
        </p:spPr>
      </p:sp>
      <p:sp>
        <p:nvSpPr>
          <p:cNvPr id="44" name="Shape 42"/>
          <p:cNvSpPr/>
          <p:nvPr/>
        </p:nvSpPr>
        <p:spPr>
          <a:xfrm>
            <a:off x="8138160" y="3822192"/>
            <a:ext cx="229914" cy="45720"/>
          </a:xfrm>
          <a:prstGeom prst="rect">
            <a:avLst/>
          </a:prstGeom>
          <a:solidFill>
            <a:srgbClr val="CC56A7"/>
          </a:solidFill>
          <a:ln/>
        </p:spPr>
      </p:sp>
      <p:sp>
        <p:nvSpPr>
          <p:cNvPr id="45" name="Shape 43"/>
          <p:cNvSpPr/>
          <p:nvPr/>
        </p:nvSpPr>
        <p:spPr>
          <a:xfrm>
            <a:off x="8308467" y="3822192"/>
            <a:ext cx="229914" cy="45720"/>
          </a:xfrm>
          <a:prstGeom prst="rect">
            <a:avLst/>
          </a:prstGeom>
          <a:solidFill>
            <a:srgbClr val="C858AC"/>
          </a:solidFill>
          <a:ln/>
        </p:spPr>
      </p:sp>
      <p:sp>
        <p:nvSpPr>
          <p:cNvPr id="46" name="Shape 44"/>
          <p:cNvSpPr/>
          <p:nvPr/>
        </p:nvSpPr>
        <p:spPr>
          <a:xfrm>
            <a:off x="8478774" y="3822192"/>
            <a:ext cx="229914" cy="45720"/>
          </a:xfrm>
          <a:prstGeom prst="rect">
            <a:avLst/>
          </a:prstGeom>
          <a:solidFill>
            <a:srgbClr val="C459B1"/>
          </a:solidFill>
          <a:ln/>
        </p:spPr>
      </p:sp>
      <p:sp>
        <p:nvSpPr>
          <p:cNvPr id="47" name="Shape 45"/>
          <p:cNvSpPr/>
          <p:nvPr/>
        </p:nvSpPr>
        <p:spPr>
          <a:xfrm>
            <a:off x="8649081" y="3822192"/>
            <a:ext cx="229914" cy="45720"/>
          </a:xfrm>
          <a:prstGeom prst="rect">
            <a:avLst/>
          </a:prstGeom>
          <a:solidFill>
            <a:srgbClr val="C05BB6"/>
          </a:solidFill>
          <a:ln/>
        </p:spPr>
      </p:sp>
      <p:sp>
        <p:nvSpPr>
          <p:cNvPr id="48" name="Shape 46"/>
          <p:cNvSpPr/>
          <p:nvPr/>
        </p:nvSpPr>
        <p:spPr>
          <a:xfrm>
            <a:off x="8819388" y="3822192"/>
            <a:ext cx="229914" cy="45720"/>
          </a:xfrm>
          <a:prstGeom prst="rect">
            <a:avLst/>
          </a:prstGeom>
          <a:solidFill>
            <a:srgbClr val="BC5DBC"/>
          </a:solidFill>
          <a:ln/>
        </p:spPr>
      </p:sp>
      <p:sp>
        <p:nvSpPr>
          <p:cNvPr id="49" name="Shape 47"/>
          <p:cNvSpPr/>
          <p:nvPr/>
        </p:nvSpPr>
        <p:spPr>
          <a:xfrm>
            <a:off x="8989695" y="3822192"/>
            <a:ext cx="229914" cy="45720"/>
          </a:xfrm>
          <a:prstGeom prst="rect">
            <a:avLst/>
          </a:prstGeom>
          <a:solidFill>
            <a:srgbClr val="B85FC1"/>
          </a:solidFill>
          <a:ln/>
        </p:spPr>
      </p:sp>
      <p:sp>
        <p:nvSpPr>
          <p:cNvPr id="50" name="Shape 48"/>
          <p:cNvSpPr/>
          <p:nvPr/>
        </p:nvSpPr>
        <p:spPr>
          <a:xfrm>
            <a:off x="9160002" y="3822192"/>
            <a:ext cx="229914" cy="45720"/>
          </a:xfrm>
          <a:prstGeom prst="rect">
            <a:avLst/>
          </a:prstGeom>
          <a:solidFill>
            <a:srgbClr val="B560C6"/>
          </a:solidFill>
          <a:ln/>
        </p:spPr>
      </p:sp>
      <p:sp>
        <p:nvSpPr>
          <p:cNvPr id="51" name="Shape 49"/>
          <p:cNvSpPr/>
          <p:nvPr/>
        </p:nvSpPr>
        <p:spPr>
          <a:xfrm>
            <a:off x="9330309" y="3822192"/>
            <a:ext cx="229914" cy="45720"/>
          </a:xfrm>
          <a:prstGeom prst="rect">
            <a:avLst/>
          </a:prstGeom>
          <a:solidFill>
            <a:srgbClr val="B162CB"/>
          </a:solidFill>
          <a:ln/>
        </p:spPr>
      </p:sp>
      <p:sp>
        <p:nvSpPr>
          <p:cNvPr id="52" name="Shape 50"/>
          <p:cNvSpPr/>
          <p:nvPr/>
        </p:nvSpPr>
        <p:spPr>
          <a:xfrm>
            <a:off x="9500616" y="3822192"/>
            <a:ext cx="229914" cy="45720"/>
          </a:xfrm>
          <a:prstGeom prst="rect">
            <a:avLst/>
          </a:prstGeom>
          <a:solidFill>
            <a:srgbClr val="AD64D0"/>
          </a:solidFill>
          <a:ln/>
        </p:spPr>
      </p:sp>
      <p:sp>
        <p:nvSpPr>
          <p:cNvPr id="53" name="Shape 51"/>
          <p:cNvSpPr/>
          <p:nvPr/>
        </p:nvSpPr>
        <p:spPr>
          <a:xfrm>
            <a:off x="9670923" y="3822192"/>
            <a:ext cx="229914" cy="45720"/>
          </a:xfrm>
          <a:prstGeom prst="rect">
            <a:avLst/>
          </a:prstGeom>
          <a:solidFill>
            <a:srgbClr val="A966D5"/>
          </a:solidFill>
          <a:ln/>
        </p:spPr>
      </p:sp>
      <p:sp>
        <p:nvSpPr>
          <p:cNvPr id="54" name="Shape 52"/>
          <p:cNvSpPr/>
          <p:nvPr/>
        </p:nvSpPr>
        <p:spPr>
          <a:xfrm>
            <a:off x="9841230" y="3822192"/>
            <a:ext cx="229914" cy="45720"/>
          </a:xfrm>
          <a:prstGeom prst="rect">
            <a:avLst/>
          </a:prstGeom>
          <a:solidFill>
            <a:srgbClr val="A567DA"/>
          </a:solidFill>
          <a:ln/>
        </p:spPr>
      </p:sp>
      <p:sp>
        <p:nvSpPr>
          <p:cNvPr id="55" name="Shape 53"/>
          <p:cNvSpPr/>
          <p:nvPr/>
        </p:nvSpPr>
        <p:spPr>
          <a:xfrm>
            <a:off x="10011537" y="3822192"/>
            <a:ext cx="229914" cy="45720"/>
          </a:xfrm>
          <a:prstGeom prst="rect">
            <a:avLst/>
          </a:prstGeom>
          <a:solidFill>
            <a:srgbClr val="A169DF"/>
          </a:solidFill>
          <a:ln/>
        </p:spPr>
      </p:sp>
      <p:sp>
        <p:nvSpPr>
          <p:cNvPr id="56" name="Shape 54"/>
          <p:cNvSpPr/>
          <p:nvPr/>
        </p:nvSpPr>
        <p:spPr>
          <a:xfrm>
            <a:off x="10181844" y="3822192"/>
            <a:ext cx="229914" cy="45720"/>
          </a:xfrm>
          <a:prstGeom prst="rect">
            <a:avLst/>
          </a:prstGeom>
          <a:solidFill>
            <a:srgbClr val="9E6BE5"/>
          </a:solidFill>
          <a:ln/>
        </p:spPr>
      </p:sp>
      <p:sp>
        <p:nvSpPr>
          <p:cNvPr id="57" name="Shape 55"/>
          <p:cNvSpPr/>
          <p:nvPr/>
        </p:nvSpPr>
        <p:spPr>
          <a:xfrm>
            <a:off x="10352151" y="3822192"/>
            <a:ext cx="229914" cy="45720"/>
          </a:xfrm>
          <a:prstGeom prst="rect">
            <a:avLst/>
          </a:prstGeom>
          <a:solidFill>
            <a:srgbClr val="9A6DEA"/>
          </a:solidFill>
          <a:ln/>
        </p:spPr>
      </p:sp>
      <p:sp>
        <p:nvSpPr>
          <p:cNvPr id="58" name="Shape 56"/>
          <p:cNvSpPr/>
          <p:nvPr/>
        </p:nvSpPr>
        <p:spPr>
          <a:xfrm>
            <a:off x="10522458" y="3822192"/>
            <a:ext cx="229914" cy="45720"/>
          </a:xfrm>
          <a:prstGeom prst="rect">
            <a:avLst/>
          </a:prstGeom>
          <a:solidFill>
            <a:srgbClr val="966EEF"/>
          </a:solidFill>
          <a:ln/>
        </p:spPr>
      </p:sp>
      <p:sp>
        <p:nvSpPr>
          <p:cNvPr id="59" name="Shape 57"/>
          <p:cNvSpPr/>
          <p:nvPr/>
        </p:nvSpPr>
        <p:spPr>
          <a:xfrm>
            <a:off x="10692765" y="3822192"/>
            <a:ext cx="229914" cy="45720"/>
          </a:xfrm>
          <a:prstGeom prst="rect">
            <a:avLst/>
          </a:prstGeom>
          <a:solidFill>
            <a:srgbClr val="9270F4"/>
          </a:solidFill>
          <a:ln/>
        </p:spPr>
      </p:sp>
      <p:sp>
        <p:nvSpPr>
          <p:cNvPr id="60" name="Shape 58"/>
          <p:cNvSpPr/>
          <p:nvPr/>
        </p:nvSpPr>
        <p:spPr>
          <a:xfrm>
            <a:off x="1220724" y="3739896"/>
            <a:ext cx="210312" cy="210312"/>
          </a:xfrm>
          <a:prstGeom prst="ellipse">
            <a:avLst/>
          </a:prstGeom>
          <a:solidFill>
            <a:srgbClr val="FF9656"/>
          </a:solidFill>
          <a:ln w="25400">
            <a:solidFill>
              <a:srgbClr val="FBF7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24505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457200" y="2798064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9,388 hand-coded papers; build the reading list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810256" y="3739896"/>
            <a:ext cx="210312" cy="210312"/>
          </a:xfrm>
          <a:prstGeom prst="ellipse">
            <a:avLst/>
          </a:prstGeom>
          <a:solidFill>
            <a:srgbClr val="FB7D5F"/>
          </a:solidFill>
          <a:ln w="25400">
            <a:solidFill>
              <a:srgbClr val="FBF7E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46732" y="4206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2046732" y="455371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Question, gap &amp; hypotheses with a 632-theory lens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399788" y="3739896"/>
            <a:ext cx="210312" cy="210312"/>
          </a:xfrm>
          <a:prstGeom prst="ellipse">
            <a:avLst/>
          </a:prstGeom>
          <a:solidFill>
            <a:srgbClr val="F76569"/>
          </a:solidFill>
          <a:ln w="25400">
            <a:solidFill>
              <a:srgbClr val="FBF7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36264" y="24505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3636264" y="2798064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Compose instruments from 332 validated scales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989320" y="3739896"/>
            <a:ext cx="210312" cy="210312"/>
          </a:xfrm>
          <a:prstGeom prst="ellipse">
            <a:avLst/>
          </a:prstGeom>
          <a:solidFill>
            <a:srgbClr val="F24C72"/>
          </a:solidFill>
          <a:ln w="25400">
            <a:solidFill>
              <a:srgbClr val="FBF7E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25796" y="4206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5225796" y="455371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Power-based sample target, consent, survey handoff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578852" y="3739896"/>
            <a:ext cx="210312" cy="210312"/>
          </a:xfrm>
          <a:prstGeom prst="ellipse">
            <a:avLst/>
          </a:prstGeom>
          <a:solidFill>
            <a:srgbClr val="D85096"/>
          </a:solidFill>
          <a:ln w="25400">
            <a:solidFill>
              <a:srgbClr val="FBF7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15328" y="24505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6815328" y="2798064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Textbook-verified statistics with APA write-ups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168384" y="3739896"/>
            <a:ext cx="210312" cy="210312"/>
          </a:xfrm>
          <a:prstGeom prst="ellipse">
            <a:avLst/>
          </a:prstGeom>
          <a:solidFill>
            <a:srgbClr val="B560C5"/>
          </a:solidFill>
          <a:ln w="25400">
            <a:solidFill>
              <a:srgbClr val="FBF7E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404860" y="4206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8404860" y="4553712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IMRaD draft assembled from your own chain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10757916" y="3739896"/>
            <a:ext cx="210312" cy="210312"/>
          </a:xfrm>
          <a:prstGeom prst="ellipse">
            <a:avLst/>
          </a:prstGeom>
          <a:solidFill>
            <a:srgbClr val="9270F4"/>
          </a:solidFill>
          <a:ln w="25400">
            <a:solidFill>
              <a:srgbClr val="FBF7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994392" y="24505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9994392" y="2798064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Preregistration + journal targeting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1280160" y="5623560"/>
            <a:ext cx="96286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handoffs are the product.  </a:t>
            </a:r>
            <a:pPr algn="ctr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gap found while reading seeds the question; the theory filters the scales; the instrument arrives in the survey pre-matched; the analysis lands in the draft as Methods + Results.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Throughline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0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real records — nothing invented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suggests; the libraries ground it. Every citation, DOI, author and effect size in the suite is real and hand-verified.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520440" cy="1755648"/>
          </a:xfrm>
          <a:prstGeom prst="roundRect">
            <a:avLst>
              <a:gd name="adj" fmla="val 5208"/>
            </a:avLst>
          </a:prstGeom>
          <a:solidFill>
            <a:srgbClr val="0E0E1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8483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6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9,388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87121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hand-coded papers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DOI-keyed · 167 constructs · Scopus-graded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34256" y="1920240"/>
            <a:ext cx="3520440" cy="1755648"/>
          </a:xfrm>
          <a:prstGeom prst="roundRect">
            <a:avLst>
              <a:gd name="adj" fmla="val 5208"/>
            </a:avLst>
          </a:prstGeom>
          <a:solidFill>
            <a:srgbClr val="0E0E18"/>
          </a:solidFill>
          <a:ln/>
        </p:spPr>
      </p:sp>
      <p:sp>
        <p:nvSpPr>
          <p:cNvPr id="9" name="Text 7"/>
          <p:cNvSpPr/>
          <p:nvPr/>
        </p:nvSpPr>
        <p:spPr>
          <a:xfrm>
            <a:off x="4608576" y="208483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45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08576" y="287121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curated theories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08576" y="32004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propositions, citations, influence map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65592" y="1920240"/>
            <a:ext cx="3520440" cy="1755648"/>
          </a:xfrm>
          <a:prstGeom prst="roundRect">
            <a:avLst>
              <a:gd name="adj" fmla="val 5208"/>
            </a:avLst>
          </a:prstGeom>
          <a:solidFill>
            <a:srgbClr val="0E0E18"/>
          </a:solidFill>
          <a:ln/>
        </p:spPr>
      </p:sp>
      <p:sp>
        <p:nvSpPr>
          <p:cNvPr id="13" name="Text 11"/>
          <p:cNvSpPr/>
          <p:nvPr/>
        </p:nvSpPr>
        <p:spPr>
          <a:xfrm>
            <a:off x="8439912" y="2084832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270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439912" y="2871216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validated scales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39912" y="320040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items, reliability, APA citations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959352"/>
            <a:ext cx="3520440" cy="1755648"/>
          </a:xfrm>
          <a:prstGeom prst="roundRect">
            <a:avLst>
              <a:gd name="adj" fmla="val 5208"/>
            </a:avLst>
          </a:prstGeom>
          <a:solidFill>
            <a:srgbClr val="0E0E1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23944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270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288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77240" y="491032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books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52395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141,077 pages, full-text searchable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34256" y="3959352"/>
            <a:ext cx="3520440" cy="1755648"/>
          </a:xfrm>
          <a:prstGeom prst="roundRect">
            <a:avLst>
              <a:gd name="adj" fmla="val 5208"/>
            </a:avLst>
          </a:prstGeom>
          <a:solidFill>
            <a:srgbClr val="0E0E18"/>
          </a:solidFill>
          <a:ln/>
        </p:spPr>
      </p:sp>
      <p:sp>
        <p:nvSpPr>
          <p:cNvPr id="21" name="Text 19"/>
          <p:cNvSpPr/>
          <p:nvPr/>
        </p:nvSpPr>
        <p:spPr>
          <a:xfrm>
            <a:off x="4608576" y="4123944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45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1,959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608576" y="491032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Scopus journals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08576" y="52395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turnaround data, every value sourced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65592" y="3959352"/>
            <a:ext cx="3520440" cy="1755648"/>
          </a:xfrm>
          <a:prstGeom prst="roundRect">
            <a:avLst>
              <a:gd name="adj" fmla="val 5208"/>
            </a:avLst>
          </a:prstGeom>
          <a:solidFill>
            <a:srgbClr val="0E0E18"/>
          </a:solidFill>
          <a:ln/>
        </p:spPr>
      </p:sp>
      <p:sp>
        <p:nvSpPr>
          <p:cNvPr id="25" name="Text 23"/>
          <p:cNvSpPr/>
          <p:nvPr/>
        </p:nvSpPr>
        <p:spPr>
          <a:xfrm>
            <a:off x="8439912" y="4123944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96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8439912" y="491032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pitfalls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39912" y="523951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hand-cited paradoxes, fallacies &amp; biases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80160" y="6035040"/>
            <a:ext cx="9628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C3C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rule across the suite: fewer verified entries beat inflated counts — a made-up citation can retract a real paper.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Throughline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0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“connected” actually means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" y="1627632"/>
            <a:ext cx="41148" cy="101533"/>
          </a:xfrm>
          <a:prstGeom prst="rect">
            <a:avLst/>
          </a:prstGeom>
          <a:solidFill>
            <a:srgbClr val="FF9656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" y="1702841"/>
            <a:ext cx="41148" cy="101533"/>
          </a:xfrm>
          <a:prstGeom prst="rect">
            <a:avLst/>
          </a:prstGeom>
          <a:solidFill>
            <a:srgbClr val="FE9257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778051"/>
            <a:ext cx="41148" cy="101533"/>
          </a:xfrm>
          <a:prstGeom prst="rect">
            <a:avLst/>
          </a:prstGeom>
          <a:solidFill>
            <a:srgbClr val="FE8E59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" y="1853260"/>
            <a:ext cx="41148" cy="101533"/>
          </a:xfrm>
          <a:prstGeom prst="rect">
            <a:avLst/>
          </a:prstGeom>
          <a:solidFill>
            <a:srgbClr val="FD8B5A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928470"/>
            <a:ext cx="41148" cy="101533"/>
          </a:xfrm>
          <a:prstGeom prst="rect">
            <a:avLst/>
          </a:prstGeom>
          <a:solidFill>
            <a:srgbClr val="FC875C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2003679"/>
            <a:ext cx="41148" cy="101533"/>
          </a:xfrm>
          <a:prstGeom prst="rect">
            <a:avLst/>
          </a:prstGeom>
          <a:solidFill>
            <a:srgbClr val="FC835D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2078888"/>
            <a:ext cx="41148" cy="101533"/>
          </a:xfrm>
          <a:prstGeom prst="rect">
            <a:avLst/>
          </a:prstGeom>
          <a:solidFill>
            <a:srgbClr val="FB7F5F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" y="2154098"/>
            <a:ext cx="41148" cy="101533"/>
          </a:xfrm>
          <a:prstGeom prst="rect">
            <a:avLst/>
          </a:prstGeom>
          <a:solidFill>
            <a:srgbClr val="FA7C60"/>
          </a:solidFill>
          <a:ln/>
        </p:spPr>
      </p:sp>
      <p:sp>
        <p:nvSpPr>
          <p:cNvPr id="11" name="Shape 9"/>
          <p:cNvSpPr/>
          <p:nvPr/>
        </p:nvSpPr>
        <p:spPr>
          <a:xfrm>
            <a:off x="786384" y="2229307"/>
            <a:ext cx="41148" cy="101533"/>
          </a:xfrm>
          <a:prstGeom prst="rect">
            <a:avLst/>
          </a:prstGeom>
          <a:solidFill>
            <a:srgbClr val="FA7862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" y="2304517"/>
            <a:ext cx="41148" cy="101533"/>
          </a:xfrm>
          <a:prstGeom prst="rect">
            <a:avLst/>
          </a:prstGeom>
          <a:solidFill>
            <a:srgbClr val="F97463"/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" y="2379726"/>
            <a:ext cx="41148" cy="101533"/>
          </a:xfrm>
          <a:prstGeom prst="rect">
            <a:avLst/>
          </a:prstGeom>
          <a:solidFill>
            <a:srgbClr val="F87064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" y="2454935"/>
            <a:ext cx="41148" cy="101533"/>
          </a:xfrm>
          <a:prstGeom prst="rect">
            <a:avLst/>
          </a:prstGeom>
          <a:solidFill>
            <a:srgbClr val="F86C66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" y="2530145"/>
            <a:ext cx="41148" cy="101533"/>
          </a:xfrm>
          <a:prstGeom prst="rect">
            <a:avLst/>
          </a:prstGeom>
          <a:solidFill>
            <a:srgbClr val="F76967"/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" y="2605354"/>
            <a:ext cx="41148" cy="101533"/>
          </a:xfrm>
          <a:prstGeom prst="rect">
            <a:avLst/>
          </a:prstGeom>
          <a:solidFill>
            <a:srgbClr val="F76569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2680564"/>
            <a:ext cx="41148" cy="101533"/>
          </a:xfrm>
          <a:prstGeom prst="rect">
            <a:avLst/>
          </a:prstGeom>
          <a:solidFill>
            <a:srgbClr val="F6616A"/>
          </a:solidFill>
          <a:ln/>
        </p:spPr>
      </p:sp>
      <p:sp>
        <p:nvSpPr>
          <p:cNvPr id="18" name="Shape 16"/>
          <p:cNvSpPr/>
          <p:nvPr/>
        </p:nvSpPr>
        <p:spPr>
          <a:xfrm>
            <a:off x="786384" y="2755773"/>
            <a:ext cx="41148" cy="101533"/>
          </a:xfrm>
          <a:prstGeom prst="rect">
            <a:avLst/>
          </a:prstGeom>
          <a:solidFill>
            <a:srgbClr val="F55D6C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" y="2830982"/>
            <a:ext cx="41148" cy="101533"/>
          </a:xfrm>
          <a:prstGeom prst="rect">
            <a:avLst/>
          </a:prstGeom>
          <a:solidFill>
            <a:srgbClr val="F55A6D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" y="2906192"/>
            <a:ext cx="41148" cy="101533"/>
          </a:xfrm>
          <a:prstGeom prst="rect">
            <a:avLst/>
          </a:prstGeom>
          <a:solidFill>
            <a:srgbClr val="F4566F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" y="2981401"/>
            <a:ext cx="41148" cy="101533"/>
          </a:xfrm>
          <a:prstGeom prst="rect">
            <a:avLst/>
          </a:prstGeom>
          <a:solidFill>
            <a:srgbClr val="F35270"/>
          </a:solidFill>
          <a:ln/>
        </p:spPr>
      </p:sp>
      <p:sp>
        <p:nvSpPr>
          <p:cNvPr id="22" name="Shape 20"/>
          <p:cNvSpPr/>
          <p:nvPr/>
        </p:nvSpPr>
        <p:spPr>
          <a:xfrm>
            <a:off x="786384" y="3056611"/>
            <a:ext cx="41148" cy="101533"/>
          </a:xfrm>
          <a:prstGeom prst="rect">
            <a:avLst/>
          </a:prstGeom>
          <a:solidFill>
            <a:srgbClr val="F34E71"/>
          </a:solidFill>
          <a:ln/>
        </p:spPr>
      </p:sp>
      <p:sp>
        <p:nvSpPr>
          <p:cNvPr id="23" name="Shape 21"/>
          <p:cNvSpPr/>
          <p:nvPr/>
        </p:nvSpPr>
        <p:spPr>
          <a:xfrm>
            <a:off x="786384" y="3131820"/>
            <a:ext cx="41148" cy="101533"/>
          </a:xfrm>
          <a:prstGeom prst="rect">
            <a:avLst/>
          </a:prstGeom>
          <a:solidFill>
            <a:srgbClr val="F24A73"/>
          </a:solidFill>
          <a:ln/>
        </p:spPr>
      </p:sp>
      <p:sp>
        <p:nvSpPr>
          <p:cNvPr id="24" name="Shape 22"/>
          <p:cNvSpPr/>
          <p:nvPr/>
        </p:nvSpPr>
        <p:spPr>
          <a:xfrm>
            <a:off x="786384" y="3207029"/>
            <a:ext cx="41148" cy="101533"/>
          </a:xfrm>
          <a:prstGeom prst="rect">
            <a:avLst/>
          </a:prstGeom>
          <a:solidFill>
            <a:srgbClr val="F14774"/>
          </a:solidFill>
          <a:ln/>
        </p:spPr>
      </p:sp>
      <p:sp>
        <p:nvSpPr>
          <p:cNvPr id="25" name="Shape 23"/>
          <p:cNvSpPr/>
          <p:nvPr/>
        </p:nvSpPr>
        <p:spPr>
          <a:xfrm>
            <a:off x="786384" y="3282239"/>
            <a:ext cx="41148" cy="101533"/>
          </a:xfrm>
          <a:prstGeom prst="rect">
            <a:avLst/>
          </a:prstGeom>
          <a:solidFill>
            <a:srgbClr val="EE4679"/>
          </a:solidFill>
          <a:ln/>
        </p:spPr>
      </p:sp>
      <p:sp>
        <p:nvSpPr>
          <p:cNvPr id="26" name="Shape 24"/>
          <p:cNvSpPr/>
          <p:nvPr/>
        </p:nvSpPr>
        <p:spPr>
          <a:xfrm>
            <a:off x="786384" y="3357448"/>
            <a:ext cx="41148" cy="101533"/>
          </a:xfrm>
          <a:prstGeom prst="rect">
            <a:avLst/>
          </a:prstGeom>
          <a:solidFill>
            <a:srgbClr val="E94980"/>
          </a:solidFill>
          <a:ln/>
        </p:spPr>
      </p:sp>
      <p:sp>
        <p:nvSpPr>
          <p:cNvPr id="27" name="Shape 25"/>
          <p:cNvSpPr/>
          <p:nvPr/>
        </p:nvSpPr>
        <p:spPr>
          <a:xfrm>
            <a:off x="786384" y="3432658"/>
            <a:ext cx="41148" cy="101533"/>
          </a:xfrm>
          <a:prstGeom prst="rect">
            <a:avLst/>
          </a:prstGeom>
          <a:solidFill>
            <a:srgbClr val="E34B87"/>
          </a:solidFill>
          <a:ln/>
        </p:spPr>
      </p:sp>
      <p:sp>
        <p:nvSpPr>
          <p:cNvPr id="28" name="Shape 26"/>
          <p:cNvSpPr/>
          <p:nvPr/>
        </p:nvSpPr>
        <p:spPr>
          <a:xfrm>
            <a:off x="786384" y="3507867"/>
            <a:ext cx="41148" cy="101533"/>
          </a:xfrm>
          <a:prstGeom prst="rect">
            <a:avLst/>
          </a:prstGeom>
          <a:solidFill>
            <a:srgbClr val="DE4E8F"/>
          </a:solidFill>
          <a:ln/>
        </p:spPr>
      </p:sp>
      <p:sp>
        <p:nvSpPr>
          <p:cNvPr id="29" name="Shape 27"/>
          <p:cNvSpPr/>
          <p:nvPr/>
        </p:nvSpPr>
        <p:spPr>
          <a:xfrm>
            <a:off x="786384" y="3583076"/>
            <a:ext cx="41148" cy="101533"/>
          </a:xfrm>
          <a:prstGeom prst="rect">
            <a:avLst/>
          </a:prstGeom>
          <a:solidFill>
            <a:srgbClr val="D85096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" y="3658286"/>
            <a:ext cx="41148" cy="101533"/>
          </a:xfrm>
          <a:prstGeom prst="rect">
            <a:avLst/>
          </a:prstGeom>
          <a:solidFill>
            <a:srgbClr val="D3539D"/>
          </a:solidFill>
          <a:ln/>
        </p:spPr>
      </p:sp>
      <p:sp>
        <p:nvSpPr>
          <p:cNvPr id="31" name="Shape 29"/>
          <p:cNvSpPr/>
          <p:nvPr/>
        </p:nvSpPr>
        <p:spPr>
          <a:xfrm>
            <a:off x="786384" y="3733495"/>
            <a:ext cx="41148" cy="101533"/>
          </a:xfrm>
          <a:prstGeom prst="rect">
            <a:avLst/>
          </a:prstGeom>
          <a:solidFill>
            <a:srgbClr val="CE55A4"/>
          </a:solidFill>
          <a:ln/>
        </p:spPr>
      </p:sp>
      <p:sp>
        <p:nvSpPr>
          <p:cNvPr id="32" name="Shape 30"/>
          <p:cNvSpPr/>
          <p:nvPr/>
        </p:nvSpPr>
        <p:spPr>
          <a:xfrm>
            <a:off x="786384" y="3808705"/>
            <a:ext cx="41148" cy="101533"/>
          </a:xfrm>
          <a:prstGeom prst="rect">
            <a:avLst/>
          </a:prstGeom>
          <a:solidFill>
            <a:srgbClr val="C857AC"/>
          </a:solidFill>
          <a:ln/>
        </p:spPr>
      </p:sp>
      <p:sp>
        <p:nvSpPr>
          <p:cNvPr id="33" name="Shape 31"/>
          <p:cNvSpPr/>
          <p:nvPr/>
        </p:nvSpPr>
        <p:spPr>
          <a:xfrm>
            <a:off x="786384" y="3883914"/>
            <a:ext cx="41148" cy="101533"/>
          </a:xfrm>
          <a:prstGeom prst="rect">
            <a:avLst/>
          </a:prstGeom>
          <a:solidFill>
            <a:srgbClr val="C35AB3"/>
          </a:solidFill>
          <a:ln/>
        </p:spPr>
      </p:sp>
      <p:sp>
        <p:nvSpPr>
          <p:cNvPr id="34" name="Shape 32"/>
          <p:cNvSpPr/>
          <p:nvPr/>
        </p:nvSpPr>
        <p:spPr>
          <a:xfrm>
            <a:off x="786384" y="3959123"/>
            <a:ext cx="41148" cy="101533"/>
          </a:xfrm>
          <a:prstGeom prst="rect">
            <a:avLst/>
          </a:prstGeom>
          <a:solidFill>
            <a:srgbClr val="BD5CBA"/>
          </a:solidFill>
          <a:ln/>
        </p:spPr>
      </p:sp>
      <p:sp>
        <p:nvSpPr>
          <p:cNvPr id="35" name="Shape 33"/>
          <p:cNvSpPr/>
          <p:nvPr/>
        </p:nvSpPr>
        <p:spPr>
          <a:xfrm>
            <a:off x="786384" y="4034333"/>
            <a:ext cx="41148" cy="101533"/>
          </a:xfrm>
          <a:prstGeom prst="rect">
            <a:avLst/>
          </a:prstGeom>
          <a:solidFill>
            <a:srgbClr val="B85FC1"/>
          </a:solidFill>
          <a:ln/>
        </p:spPr>
      </p:sp>
      <p:sp>
        <p:nvSpPr>
          <p:cNvPr id="36" name="Shape 34"/>
          <p:cNvSpPr/>
          <p:nvPr/>
        </p:nvSpPr>
        <p:spPr>
          <a:xfrm>
            <a:off x="786384" y="4109542"/>
            <a:ext cx="41148" cy="101533"/>
          </a:xfrm>
          <a:prstGeom prst="rect">
            <a:avLst/>
          </a:prstGeom>
          <a:solidFill>
            <a:srgbClr val="B261C9"/>
          </a:solidFill>
          <a:ln/>
        </p:spPr>
      </p:sp>
      <p:sp>
        <p:nvSpPr>
          <p:cNvPr id="37" name="Shape 35"/>
          <p:cNvSpPr/>
          <p:nvPr/>
        </p:nvSpPr>
        <p:spPr>
          <a:xfrm>
            <a:off x="786384" y="4184752"/>
            <a:ext cx="41148" cy="101533"/>
          </a:xfrm>
          <a:prstGeom prst="rect">
            <a:avLst/>
          </a:prstGeom>
          <a:solidFill>
            <a:srgbClr val="AD64D0"/>
          </a:solidFill>
          <a:ln/>
        </p:spPr>
      </p:sp>
      <p:sp>
        <p:nvSpPr>
          <p:cNvPr id="38" name="Shape 36"/>
          <p:cNvSpPr/>
          <p:nvPr/>
        </p:nvSpPr>
        <p:spPr>
          <a:xfrm>
            <a:off x="786384" y="4259961"/>
            <a:ext cx="41148" cy="101533"/>
          </a:xfrm>
          <a:prstGeom prst="rect">
            <a:avLst/>
          </a:prstGeom>
          <a:solidFill>
            <a:srgbClr val="A866D7"/>
          </a:solidFill>
          <a:ln/>
        </p:spPr>
      </p:sp>
      <p:sp>
        <p:nvSpPr>
          <p:cNvPr id="39" name="Shape 37"/>
          <p:cNvSpPr/>
          <p:nvPr/>
        </p:nvSpPr>
        <p:spPr>
          <a:xfrm>
            <a:off x="786384" y="4335170"/>
            <a:ext cx="41148" cy="101533"/>
          </a:xfrm>
          <a:prstGeom prst="rect">
            <a:avLst/>
          </a:prstGeom>
          <a:solidFill>
            <a:srgbClr val="A269DE"/>
          </a:solidFill>
          <a:ln/>
        </p:spPr>
      </p:sp>
      <p:sp>
        <p:nvSpPr>
          <p:cNvPr id="40" name="Shape 38"/>
          <p:cNvSpPr/>
          <p:nvPr/>
        </p:nvSpPr>
        <p:spPr>
          <a:xfrm>
            <a:off x="786384" y="4410380"/>
            <a:ext cx="41148" cy="101533"/>
          </a:xfrm>
          <a:prstGeom prst="rect">
            <a:avLst/>
          </a:prstGeom>
          <a:solidFill>
            <a:srgbClr val="9D6BE6"/>
          </a:solidFill>
          <a:ln/>
        </p:spPr>
      </p:sp>
      <p:sp>
        <p:nvSpPr>
          <p:cNvPr id="41" name="Shape 39"/>
          <p:cNvSpPr/>
          <p:nvPr/>
        </p:nvSpPr>
        <p:spPr>
          <a:xfrm>
            <a:off x="786384" y="4485589"/>
            <a:ext cx="41148" cy="101533"/>
          </a:xfrm>
          <a:prstGeom prst="rect">
            <a:avLst/>
          </a:prstGeom>
          <a:solidFill>
            <a:srgbClr val="976EED"/>
          </a:solidFill>
          <a:ln/>
        </p:spPr>
      </p:sp>
      <p:sp>
        <p:nvSpPr>
          <p:cNvPr id="42" name="Shape 40"/>
          <p:cNvSpPr/>
          <p:nvPr/>
        </p:nvSpPr>
        <p:spPr>
          <a:xfrm>
            <a:off x="786384" y="4560799"/>
            <a:ext cx="41148" cy="101533"/>
          </a:xfrm>
          <a:prstGeom prst="rect">
            <a:avLst/>
          </a:prstGeom>
          <a:solidFill>
            <a:srgbClr val="9270F4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" y="1554480"/>
            <a:ext cx="338328" cy="338328"/>
          </a:xfrm>
          <a:prstGeom prst="ellipse">
            <a:avLst/>
          </a:prstGeom>
          <a:solidFill>
            <a:srgbClr val="FF9656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1549908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207008" y="1444752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gap you spot in Discover  </a:t>
            </a:r>
            <a:pPr indent="0" marL="0">
              <a:buNone/>
            </a:pPr>
            <a:r>
              <a:rPr lang="en-US" sz="15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seeds the research question and hypotheses in Frame.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640080" y="2523744"/>
            <a:ext cx="338328" cy="338328"/>
          </a:xfrm>
          <a:prstGeom prst="ellipse">
            <a:avLst/>
          </a:prstGeom>
          <a:solidFill>
            <a:srgbClr val="F76569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2519172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207008" y="2414016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theory you choose in Frame  </a:t>
            </a:r>
            <a:pPr indent="0" marL="0">
              <a:buNone/>
            </a:pPr>
            <a:r>
              <a:rPr lang="en-US" sz="15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filters which validated scales Measure offers you.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640080" y="3493008"/>
            <a:ext cx="338328" cy="338328"/>
          </a:xfrm>
          <a:prstGeom prst="ellipse">
            <a:avLst/>
          </a:prstGeom>
          <a:solidFill>
            <a:srgbClr val="D85096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3488436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207008" y="3383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instrument you compose in Measure  </a:t>
            </a:r>
            <a:pPr indent="0" marL="0">
              <a:buNone/>
            </a:pPr>
            <a:r>
              <a:rPr lang="en-US" sz="15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arrives in Collect with consent and a sample-size target.</a:t>
            </a:r>
            <a:endParaRPr lang="en-US" sz="1550" dirty="0"/>
          </a:p>
        </p:txBody>
      </p:sp>
      <p:sp>
        <p:nvSpPr>
          <p:cNvPr id="52" name="Shape 50"/>
          <p:cNvSpPr/>
          <p:nvPr/>
        </p:nvSpPr>
        <p:spPr>
          <a:xfrm>
            <a:off x="640080" y="4462272"/>
            <a:ext cx="338328" cy="338328"/>
          </a:xfrm>
          <a:prstGeom prst="ellipse">
            <a:avLst/>
          </a:prstGeom>
          <a:solidFill>
            <a:srgbClr val="9270F4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4457700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207008" y="4352544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analyses you run in Analyze  </a:t>
            </a:r>
            <a:pPr indent="0" marL="0">
              <a:buNone/>
            </a:pPr>
            <a:r>
              <a:rPr lang="en-US" sz="15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land in Write as Methods and Results, APA write-up attached.</a:t>
            </a:r>
            <a:endParaRPr lang="en-US" sz="1550" dirty="0"/>
          </a:p>
        </p:txBody>
      </p:sp>
      <p:sp>
        <p:nvSpPr>
          <p:cNvPr id="55" name="Shape 53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F3EEE3"/>
          </a:solidFill>
          <a:ln/>
        </p:spPr>
      </p:sp>
      <p:sp>
        <p:nvSpPr>
          <p:cNvPr id="56" name="Text 54"/>
          <p:cNvSpPr/>
          <p:nvPr/>
        </p:nvSpPr>
        <p:spPr>
          <a:xfrm>
            <a:off x="914400" y="5486400"/>
            <a:ext cx="10360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re-typed, so nothing silently drifts.  </a:t>
            </a:r>
            <a:pPr indent="0" marL="0">
              <a:buNone/>
            </a:pPr>
            <a:r>
              <a:rPr lang="en-US" sz="13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hypothesis still matches the design; the scale still matches the construct; the test still matches the data.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Throughline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0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point has a free competitor. The line doesn’t.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POINTS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2148840" cy="420624"/>
          </a:xfrm>
          <a:prstGeom prst="roundRect">
            <a:avLst>
              <a:gd name="adj" fmla="val 45652"/>
            </a:avLst>
          </a:prstGeom>
          <a:solidFill>
            <a:srgbClr val="F3EE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Zotero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83280" y="2286000"/>
            <a:ext cx="2148840" cy="420624"/>
          </a:xfrm>
          <a:prstGeom prst="roundRect">
            <a:avLst>
              <a:gd name="adj" fmla="val 45652"/>
            </a:avLst>
          </a:prstGeom>
          <a:solidFill>
            <a:srgbClr val="F3EE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Rabbit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852928"/>
            <a:ext cx="2148840" cy="420624"/>
          </a:xfrm>
          <a:prstGeom prst="roundRect">
            <a:avLst>
              <a:gd name="adj" fmla="val 45652"/>
            </a:avLst>
          </a:prstGeom>
          <a:solidFill>
            <a:srgbClr val="F3EE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JASP / SPSS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83280" y="2852928"/>
            <a:ext cx="2148840" cy="420624"/>
          </a:xfrm>
          <a:prstGeom prst="roundRect">
            <a:avLst>
              <a:gd name="adj" fmla="val 45652"/>
            </a:avLst>
          </a:prstGeom>
          <a:solidFill>
            <a:srgbClr val="F3EE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Qualtrics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419856"/>
            <a:ext cx="2148840" cy="420624"/>
          </a:xfrm>
          <a:prstGeom prst="roundRect">
            <a:avLst>
              <a:gd name="adj" fmla="val 45652"/>
            </a:avLst>
          </a:prstGeom>
          <a:solidFill>
            <a:srgbClr val="F3EE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Docs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83280" y="3419856"/>
            <a:ext cx="2148840" cy="420624"/>
          </a:xfrm>
          <a:prstGeom prst="roundRect">
            <a:avLst>
              <a:gd name="adj" fmla="val 45652"/>
            </a:avLst>
          </a:prstGeom>
          <a:solidFill>
            <a:srgbClr val="F3EE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ChatGPT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is excellent at its slice — and free. None of them know what the others decided.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36792" y="155448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0E0E18"/>
          </a:solidFill>
          <a:ln/>
        </p:spPr>
      </p:sp>
      <p:sp>
        <p:nvSpPr>
          <p:cNvPr id="13" name="Shape 11"/>
          <p:cNvSpPr/>
          <p:nvPr/>
        </p:nvSpPr>
        <p:spPr>
          <a:xfrm>
            <a:off x="6656832" y="2011680"/>
            <a:ext cx="45720" cy="98755"/>
          </a:xfrm>
          <a:prstGeom prst="rect">
            <a:avLst/>
          </a:prstGeom>
          <a:solidFill>
            <a:srgbClr val="FF96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656832" y="2084832"/>
            <a:ext cx="45720" cy="98755"/>
          </a:xfrm>
          <a:prstGeom prst="rect">
            <a:avLst/>
          </a:prstGeom>
          <a:solidFill>
            <a:srgbClr val="FE92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656832" y="2157984"/>
            <a:ext cx="45720" cy="98755"/>
          </a:xfrm>
          <a:prstGeom prst="rect">
            <a:avLst/>
          </a:prstGeom>
          <a:solidFill>
            <a:srgbClr val="FE8E59"/>
          </a:solidFill>
          <a:ln/>
        </p:spPr>
      </p:sp>
      <p:sp>
        <p:nvSpPr>
          <p:cNvPr id="16" name="Shape 14"/>
          <p:cNvSpPr/>
          <p:nvPr/>
        </p:nvSpPr>
        <p:spPr>
          <a:xfrm>
            <a:off x="6656832" y="2231136"/>
            <a:ext cx="45720" cy="98755"/>
          </a:xfrm>
          <a:prstGeom prst="rect">
            <a:avLst/>
          </a:prstGeom>
          <a:solidFill>
            <a:srgbClr val="FD8B5A"/>
          </a:solidFill>
          <a:ln/>
        </p:spPr>
      </p:sp>
      <p:sp>
        <p:nvSpPr>
          <p:cNvPr id="17" name="Shape 15"/>
          <p:cNvSpPr/>
          <p:nvPr/>
        </p:nvSpPr>
        <p:spPr>
          <a:xfrm>
            <a:off x="6656832" y="2304288"/>
            <a:ext cx="45720" cy="98755"/>
          </a:xfrm>
          <a:prstGeom prst="rect">
            <a:avLst/>
          </a:prstGeom>
          <a:solidFill>
            <a:srgbClr val="FC875C"/>
          </a:solidFill>
          <a:ln/>
        </p:spPr>
      </p:sp>
      <p:sp>
        <p:nvSpPr>
          <p:cNvPr id="18" name="Shape 16"/>
          <p:cNvSpPr/>
          <p:nvPr/>
        </p:nvSpPr>
        <p:spPr>
          <a:xfrm>
            <a:off x="6656832" y="2377440"/>
            <a:ext cx="45720" cy="98755"/>
          </a:xfrm>
          <a:prstGeom prst="rect">
            <a:avLst/>
          </a:prstGeom>
          <a:solidFill>
            <a:srgbClr val="FC835D"/>
          </a:solidFill>
          <a:ln/>
        </p:spPr>
      </p:sp>
      <p:sp>
        <p:nvSpPr>
          <p:cNvPr id="19" name="Shape 17"/>
          <p:cNvSpPr/>
          <p:nvPr/>
        </p:nvSpPr>
        <p:spPr>
          <a:xfrm>
            <a:off x="6656832" y="2450592"/>
            <a:ext cx="45720" cy="98755"/>
          </a:xfrm>
          <a:prstGeom prst="rect">
            <a:avLst/>
          </a:prstGeom>
          <a:solidFill>
            <a:srgbClr val="FB7F5F"/>
          </a:solidFill>
          <a:ln/>
        </p:spPr>
      </p:sp>
      <p:sp>
        <p:nvSpPr>
          <p:cNvPr id="20" name="Shape 18"/>
          <p:cNvSpPr/>
          <p:nvPr/>
        </p:nvSpPr>
        <p:spPr>
          <a:xfrm>
            <a:off x="6656832" y="2523744"/>
            <a:ext cx="45720" cy="98755"/>
          </a:xfrm>
          <a:prstGeom prst="rect">
            <a:avLst/>
          </a:prstGeom>
          <a:solidFill>
            <a:srgbClr val="FA7C60"/>
          </a:solidFill>
          <a:ln/>
        </p:spPr>
      </p:sp>
      <p:sp>
        <p:nvSpPr>
          <p:cNvPr id="21" name="Shape 19"/>
          <p:cNvSpPr/>
          <p:nvPr/>
        </p:nvSpPr>
        <p:spPr>
          <a:xfrm>
            <a:off x="6656832" y="2596896"/>
            <a:ext cx="45720" cy="98755"/>
          </a:xfrm>
          <a:prstGeom prst="rect">
            <a:avLst/>
          </a:prstGeom>
          <a:solidFill>
            <a:srgbClr val="FA7862"/>
          </a:solidFill>
          <a:ln/>
        </p:spPr>
      </p:sp>
      <p:sp>
        <p:nvSpPr>
          <p:cNvPr id="22" name="Shape 20"/>
          <p:cNvSpPr/>
          <p:nvPr/>
        </p:nvSpPr>
        <p:spPr>
          <a:xfrm>
            <a:off x="6656832" y="2670048"/>
            <a:ext cx="45720" cy="98755"/>
          </a:xfrm>
          <a:prstGeom prst="rect">
            <a:avLst/>
          </a:prstGeom>
          <a:solidFill>
            <a:srgbClr val="F97463"/>
          </a:solidFill>
          <a:ln/>
        </p:spPr>
      </p:sp>
      <p:sp>
        <p:nvSpPr>
          <p:cNvPr id="23" name="Shape 21"/>
          <p:cNvSpPr/>
          <p:nvPr/>
        </p:nvSpPr>
        <p:spPr>
          <a:xfrm>
            <a:off x="6656832" y="2743200"/>
            <a:ext cx="45720" cy="98755"/>
          </a:xfrm>
          <a:prstGeom prst="rect">
            <a:avLst/>
          </a:prstGeom>
          <a:solidFill>
            <a:srgbClr val="F87064"/>
          </a:solidFill>
          <a:ln/>
        </p:spPr>
      </p:sp>
      <p:sp>
        <p:nvSpPr>
          <p:cNvPr id="24" name="Shape 22"/>
          <p:cNvSpPr/>
          <p:nvPr/>
        </p:nvSpPr>
        <p:spPr>
          <a:xfrm>
            <a:off x="6656832" y="2816352"/>
            <a:ext cx="45720" cy="98755"/>
          </a:xfrm>
          <a:prstGeom prst="rect">
            <a:avLst/>
          </a:prstGeom>
          <a:solidFill>
            <a:srgbClr val="F86C66"/>
          </a:solidFill>
          <a:ln/>
        </p:spPr>
      </p:sp>
      <p:sp>
        <p:nvSpPr>
          <p:cNvPr id="25" name="Shape 23"/>
          <p:cNvSpPr/>
          <p:nvPr/>
        </p:nvSpPr>
        <p:spPr>
          <a:xfrm>
            <a:off x="6656832" y="2889504"/>
            <a:ext cx="45720" cy="98755"/>
          </a:xfrm>
          <a:prstGeom prst="rect">
            <a:avLst/>
          </a:prstGeom>
          <a:solidFill>
            <a:srgbClr val="F76967"/>
          </a:solidFill>
          <a:ln/>
        </p:spPr>
      </p:sp>
      <p:sp>
        <p:nvSpPr>
          <p:cNvPr id="26" name="Shape 24"/>
          <p:cNvSpPr/>
          <p:nvPr/>
        </p:nvSpPr>
        <p:spPr>
          <a:xfrm>
            <a:off x="6656832" y="2962656"/>
            <a:ext cx="45720" cy="98755"/>
          </a:xfrm>
          <a:prstGeom prst="rect">
            <a:avLst/>
          </a:prstGeom>
          <a:solidFill>
            <a:srgbClr val="F76569"/>
          </a:solidFill>
          <a:ln/>
        </p:spPr>
      </p:sp>
      <p:sp>
        <p:nvSpPr>
          <p:cNvPr id="27" name="Shape 25"/>
          <p:cNvSpPr/>
          <p:nvPr/>
        </p:nvSpPr>
        <p:spPr>
          <a:xfrm>
            <a:off x="6656832" y="3035808"/>
            <a:ext cx="45720" cy="98755"/>
          </a:xfrm>
          <a:prstGeom prst="rect">
            <a:avLst/>
          </a:prstGeom>
          <a:solidFill>
            <a:srgbClr val="F6616A"/>
          </a:solidFill>
          <a:ln/>
        </p:spPr>
      </p:sp>
      <p:sp>
        <p:nvSpPr>
          <p:cNvPr id="28" name="Shape 26"/>
          <p:cNvSpPr/>
          <p:nvPr/>
        </p:nvSpPr>
        <p:spPr>
          <a:xfrm>
            <a:off x="6656832" y="3108960"/>
            <a:ext cx="45720" cy="98755"/>
          </a:xfrm>
          <a:prstGeom prst="rect">
            <a:avLst/>
          </a:prstGeom>
          <a:solidFill>
            <a:srgbClr val="F55D6C"/>
          </a:solidFill>
          <a:ln/>
        </p:spPr>
      </p:sp>
      <p:sp>
        <p:nvSpPr>
          <p:cNvPr id="29" name="Shape 27"/>
          <p:cNvSpPr/>
          <p:nvPr/>
        </p:nvSpPr>
        <p:spPr>
          <a:xfrm>
            <a:off x="6656832" y="3182112"/>
            <a:ext cx="45720" cy="98755"/>
          </a:xfrm>
          <a:prstGeom prst="rect">
            <a:avLst/>
          </a:prstGeom>
          <a:solidFill>
            <a:srgbClr val="F55A6D"/>
          </a:solidFill>
          <a:ln/>
        </p:spPr>
      </p:sp>
      <p:sp>
        <p:nvSpPr>
          <p:cNvPr id="30" name="Shape 28"/>
          <p:cNvSpPr/>
          <p:nvPr/>
        </p:nvSpPr>
        <p:spPr>
          <a:xfrm>
            <a:off x="6656832" y="3255264"/>
            <a:ext cx="45720" cy="98755"/>
          </a:xfrm>
          <a:prstGeom prst="rect">
            <a:avLst/>
          </a:prstGeom>
          <a:solidFill>
            <a:srgbClr val="F4566F"/>
          </a:solidFill>
          <a:ln/>
        </p:spPr>
      </p:sp>
      <p:sp>
        <p:nvSpPr>
          <p:cNvPr id="31" name="Shape 29"/>
          <p:cNvSpPr/>
          <p:nvPr/>
        </p:nvSpPr>
        <p:spPr>
          <a:xfrm>
            <a:off x="6656832" y="3328416"/>
            <a:ext cx="45720" cy="98755"/>
          </a:xfrm>
          <a:prstGeom prst="rect">
            <a:avLst/>
          </a:prstGeom>
          <a:solidFill>
            <a:srgbClr val="F35270"/>
          </a:solidFill>
          <a:ln/>
        </p:spPr>
      </p:sp>
      <p:sp>
        <p:nvSpPr>
          <p:cNvPr id="32" name="Shape 30"/>
          <p:cNvSpPr/>
          <p:nvPr/>
        </p:nvSpPr>
        <p:spPr>
          <a:xfrm>
            <a:off x="6656832" y="3401568"/>
            <a:ext cx="45720" cy="98755"/>
          </a:xfrm>
          <a:prstGeom prst="rect">
            <a:avLst/>
          </a:prstGeom>
          <a:solidFill>
            <a:srgbClr val="F34E71"/>
          </a:solidFill>
          <a:ln/>
        </p:spPr>
      </p:sp>
      <p:sp>
        <p:nvSpPr>
          <p:cNvPr id="33" name="Shape 31"/>
          <p:cNvSpPr/>
          <p:nvPr/>
        </p:nvSpPr>
        <p:spPr>
          <a:xfrm>
            <a:off x="6656832" y="3474720"/>
            <a:ext cx="45720" cy="98755"/>
          </a:xfrm>
          <a:prstGeom prst="rect">
            <a:avLst/>
          </a:prstGeom>
          <a:solidFill>
            <a:srgbClr val="F24A73"/>
          </a:solidFill>
          <a:ln/>
        </p:spPr>
      </p:sp>
      <p:sp>
        <p:nvSpPr>
          <p:cNvPr id="34" name="Shape 32"/>
          <p:cNvSpPr/>
          <p:nvPr/>
        </p:nvSpPr>
        <p:spPr>
          <a:xfrm>
            <a:off x="6656832" y="3547872"/>
            <a:ext cx="45720" cy="98755"/>
          </a:xfrm>
          <a:prstGeom prst="rect">
            <a:avLst/>
          </a:prstGeom>
          <a:solidFill>
            <a:srgbClr val="F14774"/>
          </a:solidFill>
          <a:ln/>
        </p:spPr>
      </p:sp>
      <p:sp>
        <p:nvSpPr>
          <p:cNvPr id="35" name="Shape 33"/>
          <p:cNvSpPr/>
          <p:nvPr/>
        </p:nvSpPr>
        <p:spPr>
          <a:xfrm>
            <a:off x="6656832" y="3621024"/>
            <a:ext cx="45720" cy="98755"/>
          </a:xfrm>
          <a:prstGeom prst="rect">
            <a:avLst/>
          </a:prstGeom>
          <a:solidFill>
            <a:srgbClr val="EE4679"/>
          </a:solidFill>
          <a:ln/>
        </p:spPr>
      </p:sp>
      <p:sp>
        <p:nvSpPr>
          <p:cNvPr id="36" name="Shape 34"/>
          <p:cNvSpPr/>
          <p:nvPr/>
        </p:nvSpPr>
        <p:spPr>
          <a:xfrm>
            <a:off x="6656832" y="3694176"/>
            <a:ext cx="45720" cy="98755"/>
          </a:xfrm>
          <a:prstGeom prst="rect">
            <a:avLst/>
          </a:prstGeom>
          <a:solidFill>
            <a:srgbClr val="E94980"/>
          </a:solidFill>
          <a:ln/>
        </p:spPr>
      </p:sp>
      <p:sp>
        <p:nvSpPr>
          <p:cNvPr id="37" name="Shape 35"/>
          <p:cNvSpPr/>
          <p:nvPr/>
        </p:nvSpPr>
        <p:spPr>
          <a:xfrm>
            <a:off x="6656832" y="3767328"/>
            <a:ext cx="45720" cy="98755"/>
          </a:xfrm>
          <a:prstGeom prst="rect">
            <a:avLst/>
          </a:prstGeom>
          <a:solidFill>
            <a:srgbClr val="E34B87"/>
          </a:solidFill>
          <a:ln/>
        </p:spPr>
      </p:sp>
      <p:sp>
        <p:nvSpPr>
          <p:cNvPr id="38" name="Shape 36"/>
          <p:cNvSpPr/>
          <p:nvPr/>
        </p:nvSpPr>
        <p:spPr>
          <a:xfrm>
            <a:off x="6656832" y="3840480"/>
            <a:ext cx="45720" cy="98755"/>
          </a:xfrm>
          <a:prstGeom prst="rect">
            <a:avLst/>
          </a:prstGeom>
          <a:solidFill>
            <a:srgbClr val="DE4E8F"/>
          </a:solidFill>
          <a:ln/>
        </p:spPr>
      </p:sp>
      <p:sp>
        <p:nvSpPr>
          <p:cNvPr id="39" name="Shape 37"/>
          <p:cNvSpPr/>
          <p:nvPr/>
        </p:nvSpPr>
        <p:spPr>
          <a:xfrm>
            <a:off x="6656832" y="3913632"/>
            <a:ext cx="45720" cy="98755"/>
          </a:xfrm>
          <a:prstGeom prst="rect">
            <a:avLst/>
          </a:prstGeom>
          <a:solidFill>
            <a:srgbClr val="D85096"/>
          </a:solidFill>
          <a:ln/>
        </p:spPr>
      </p:sp>
      <p:sp>
        <p:nvSpPr>
          <p:cNvPr id="40" name="Shape 38"/>
          <p:cNvSpPr/>
          <p:nvPr/>
        </p:nvSpPr>
        <p:spPr>
          <a:xfrm>
            <a:off x="6656832" y="3986784"/>
            <a:ext cx="45720" cy="98755"/>
          </a:xfrm>
          <a:prstGeom prst="rect">
            <a:avLst/>
          </a:prstGeom>
          <a:solidFill>
            <a:srgbClr val="D3539D"/>
          </a:solidFill>
          <a:ln/>
        </p:spPr>
      </p:sp>
      <p:sp>
        <p:nvSpPr>
          <p:cNvPr id="41" name="Shape 39"/>
          <p:cNvSpPr/>
          <p:nvPr/>
        </p:nvSpPr>
        <p:spPr>
          <a:xfrm>
            <a:off x="6656832" y="4059936"/>
            <a:ext cx="45720" cy="98755"/>
          </a:xfrm>
          <a:prstGeom prst="rect">
            <a:avLst/>
          </a:prstGeom>
          <a:solidFill>
            <a:srgbClr val="CE55A4"/>
          </a:solidFill>
          <a:ln/>
        </p:spPr>
      </p:sp>
      <p:sp>
        <p:nvSpPr>
          <p:cNvPr id="42" name="Shape 40"/>
          <p:cNvSpPr/>
          <p:nvPr/>
        </p:nvSpPr>
        <p:spPr>
          <a:xfrm>
            <a:off x="6656832" y="4133088"/>
            <a:ext cx="45720" cy="98755"/>
          </a:xfrm>
          <a:prstGeom prst="rect">
            <a:avLst/>
          </a:prstGeom>
          <a:solidFill>
            <a:srgbClr val="C857AC"/>
          </a:solidFill>
          <a:ln/>
        </p:spPr>
      </p:sp>
      <p:sp>
        <p:nvSpPr>
          <p:cNvPr id="43" name="Shape 41"/>
          <p:cNvSpPr/>
          <p:nvPr/>
        </p:nvSpPr>
        <p:spPr>
          <a:xfrm>
            <a:off x="6656832" y="4206240"/>
            <a:ext cx="45720" cy="98755"/>
          </a:xfrm>
          <a:prstGeom prst="rect">
            <a:avLst/>
          </a:prstGeom>
          <a:solidFill>
            <a:srgbClr val="C35AB3"/>
          </a:solidFill>
          <a:ln/>
        </p:spPr>
      </p:sp>
      <p:sp>
        <p:nvSpPr>
          <p:cNvPr id="44" name="Shape 42"/>
          <p:cNvSpPr/>
          <p:nvPr/>
        </p:nvSpPr>
        <p:spPr>
          <a:xfrm>
            <a:off x="6656832" y="4279392"/>
            <a:ext cx="45720" cy="98755"/>
          </a:xfrm>
          <a:prstGeom prst="rect">
            <a:avLst/>
          </a:prstGeom>
          <a:solidFill>
            <a:srgbClr val="BD5CBA"/>
          </a:solidFill>
          <a:ln/>
        </p:spPr>
      </p:sp>
      <p:sp>
        <p:nvSpPr>
          <p:cNvPr id="45" name="Shape 43"/>
          <p:cNvSpPr/>
          <p:nvPr/>
        </p:nvSpPr>
        <p:spPr>
          <a:xfrm>
            <a:off x="6656832" y="4352544"/>
            <a:ext cx="45720" cy="98755"/>
          </a:xfrm>
          <a:prstGeom prst="rect">
            <a:avLst/>
          </a:prstGeom>
          <a:solidFill>
            <a:srgbClr val="B85FC1"/>
          </a:solidFill>
          <a:ln/>
        </p:spPr>
      </p:sp>
      <p:sp>
        <p:nvSpPr>
          <p:cNvPr id="46" name="Shape 44"/>
          <p:cNvSpPr/>
          <p:nvPr/>
        </p:nvSpPr>
        <p:spPr>
          <a:xfrm>
            <a:off x="6656832" y="4425696"/>
            <a:ext cx="45720" cy="98755"/>
          </a:xfrm>
          <a:prstGeom prst="rect">
            <a:avLst/>
          </a:prstGeom>
          <a:solidFill>
            <a:srgbClr val="B261C9"/>
          </a:solidFill>
          <a:ln/>
        </p:spPr>
      </p:sp>
      <p:sp>
        <p:nvSpPr>
          <p:cNvPr id="47" name="Shape 45"/>
          <p:cNvSpPr/>
          <p:nvPr/>
        </p:nvSpPr>
        <p:spPr>
          <a:xfrm>
            <a:off x="6656832" y="4498848"/>
            <a:ext cx="45720" cy="98755"/>
          </a:xfrm>
          <a:prstGeom prst="rect">
            <a:avLst/>
          </a:prstGeom>
          <a:solidFill>
            <a:srgbClr val="AD64D0"/>
          </a:solidFill>
          <a:ln/>
        </p:spPr>
      </p:sp>
      <p:sp>
        <p:nvSpPr>
          <p:cNvPr id="48" name="Shape 46"/>
          <p:cNvSpPr/>
          <p:nvPr/>
        </p:nvSpPr>
        <p:spPr>
          <a:xfrm>
            <a:off x="6656832" y="4572000"/>
            <a:ext cx="45720" cy="98755"/>
          </a:xfrm>
          <a:prstGeom prst="rect">
            <a:avLst/>
          </a:prstGeom>
          <a:solidFill>
            <a:srgbClr val="A866D7"/>
          </a:solidFill>
          <a:ln/>
        </p:spPr>
      </p:sp>
      <p:sp>
        <p:nvSpPr>
          <p:cNvPr id="49" name="Shape 47"/>
          <p:cNvSpPr/>
          <p:nvPr/>
        </p:nvSpPr>
        <p:spPr>
          <a:xfrm>
            <a:off x="6656832" y="4645152"/>
            <a:ext cx="45720" cy="98755"/>
          </a:xfrm>
          <a:prstGeom prst="rect">
            <a:avLst/>
          </a:prstGeom>
          <a:solidFill>
            <a:srgbClr val="A269DE"/>
          </a:solidFill>
          <a:ln/>
        </p:spPr>
      </p:sp>
      <p:sp>
        <p:nvSpPr>
          <p:cNvPr id="50" name="Shape 48"/>
          <p:cNvSpPr/>
          <p:nvPr/>
        </p:nvSpPr>
        <p:spPr>
          <a:xfrm>
            <a:off x="6656832" y="4718304"/>
            <a:ext cx="45720" cy="98755"/>
          </a:xfrm>
          <a:prstGeom prst="rect">
            <a:avLst/>
          </a:prstGeom>
          <a:solidFill>
            <a:srgbClr val="9D6BE6"/>
          </a:solidFill>
          <a:ln/>
        </p:spPr>
      </p:sp>
      <p:sp>
        <p:nvSpPr>
          <p:cNvPr id="51" name="Shape 49"/>
          <p:cNvSpPr/>
          <p:nvPr/>
        </p:nvSpPr>
        <p:spPr>
          <a:xfrm>
            <a:off x="6656832" y="4791456"/>
            <a:ext cx="45720" cy="98755"/>
          </a:xfrm>
          <a:prstGeom prst="rect">
            <a:avLst/>
          </a:prstGeom>
          <a:solidFill>
            <a:srgbClr val="976EED"/>
          </a:solidFill>
          <a:ln/>
        </p:spPr>
      </p:sp>
      <p:sp>
        <p:nvSpPr>
          <p:cNvPr id="52" name="Shape 50"/>
          <p:cNvSpPr/>
          <p:nvPr/>
        </p:nvSpPr>
        <p:spPr>
          <a:xfrm>
            <a:off x="6656832" y="4864608"/>
            <a:ext cx="45720" cy="98755"/>
          </a:xfrm>
          <a:prstGeom prst="rect">
            <a:avLst/>
          </a:prstGeom>
          <a:solidFill>
            <a:srgbClr val="9270F4"/>
          </a:solidFill>
          <a:ln/>
        </p:spPr>
      </p:sp>
      <p:sp>
        <p:nvSpPr>
          <p:cNvPr id="53" name="Text 51"/>
          <p:cNvSpPr/>
          <p:nvPr/>
        </p:nvSpPr>
        <p:spPr>
          <a:xfrm>
            <a:off x="6967728" y="19842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47F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LINE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67728" y="251460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 The connected workflow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compounds across stages. No single competitor spans the arc — and the switching cost is the whole chain.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 Rigor as a first-class citizen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 catalogs, hand-verified statistics, citations everywhere. It nudges you toward defensible research.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2167128" y="58064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C3C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don’t out-feature the points. We own the line between them.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Throughline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0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wedge: research-methods education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783080"/>
            <a:ext cx="502920" cy="502920"/>
          </a:xfrm>
          <a:prstGeom prst="ellipse">
            <a:avLst/>
          </a:prstGeom>
          <a:solidFill>
            <a:srgbClr val="F14575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73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Graduate students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a first thesis or dissertation. They feel the broken chain hardest — and can’t afford five separate subscriptions.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7648" y="146304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47688" y="1783080"/>
            <a:ext cx="502920" cy="502920"/>
          </a:xfrm>
          <a:prstGeom prst="ellipse">
            <a:avLst/>
          </a:prstGeom>
          <a:solidFill>
            <a:srgbClr val="9270F4"/>
          </a:solidFill>
          <a:ln/>
        </p:spPr>
      </p:sp>
      <p:sp>
        <p:nvSpPr>
          <p:cNvPr id="10" name="Text 8"/>
          <p:cNvSpPr/>
          <p:nvPr/>
        </p:nvSpPr>
        <p:spPr>
          <a:xfrm>
            <a:off x="6647688" y="1773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33488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Methods instructors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33488" y="210312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students to see the research process as one coherent arc — and to grade work where the decision-chain is visible.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WEDGE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76656" y="4078224"/>
            <a:ext cx="118872" cy="118872"/>
          </a:xfrm>
          <a:prstGeom prst="ellipse">
            <a:avLst/>
          </a:prstGeom>
          <a:solidFill>
            <a:srgbClr val="FF965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319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pain is sharpest here — methods is where marks are lost and desk-rejections happen.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" y="4553712"/>
            <a:ext cx="118872" cy="118872"/>
          </a:xfrm>
          <a:prstGeom prst="ellipse">
            <a:avLst/>
          </a:prstGeom>
          <a:solidFill>
            <a:srgbClr val="F76569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40740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buyers are concentrated and reachable: departments and methods instructors.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" y="5029200"/>
            <a:ext cx="118872" cy="118872"/>
          </a:xfrm>
          <a:prstGeom prst="ellipse">
            <a:avLst/>
          </a:prstGeom>
          <a:solidFill>
            <a:srgbClr val="D8509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882896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Rigor reads as a feature in education; in industry it can read as friction.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" y="5504688"/>
            <a:ext cx="118872" cy="118872"/>
          </a:xfrm>
          <a:prstGeom prst="ellipse">
            <a:avLst/>
          </a:prstGeom>
          <a:solidFill>
            <a:srgbClr val="9270F4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358384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Habit seeds early — today’s grad student is tomorrow’s PI and tomorrow’s reviewer.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widen → </a:t>
            </a:r>
            <a:pPr indent="0" marL="0">
              <a:buNone/>
            </a:pPr>
            <a:r>
              <a:rPr lang="en-US" sz="130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researchers · small labs · UX research · people analytics · policy evaluation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Throughline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0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965960"/>
            <a:ext cx="548640" cy="548640"/>
          </a:xfrm>
          <a:prstGeom prst="ellipse">
            <a:avLst/>
          </a:prstGeom>
          <a:solidFill>
            <a:srgbClr val="FF965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568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without grounding is confidently wrong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6118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AI invents citations and effect sizes. Throughline’s AI is grounded in its own verified libraries — and cites them. That only works because the tools are connected.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965960"/>
            <a:ext cx="548640" cy="548640"/>
          </a:xfrm>
          <a:prstGeom prst="ellipse">
            <a:avLst/>
          </a:prstGeom>
          <a:solidFill>
            <a:srgbClr val="F14575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9568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Rigor is under scrutiny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6118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replication crisis, reviewers and committees ask for an explicit, auditable decision-chain. Throughline makes the chain the interface.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600200"/>
            <a:ext cx="3547872" cy="365760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965960"/>
            <a:ext cx="548640" cy="548640"/>
          </a:xfrm>
          <a:prstGeom prst="ellipse">
            <a:avLst/>
          </a:prstGeom>
          <a:solidFill>
            <a:srgbClr val="9270F4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9568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49640" y="27432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E0E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build cost collapsed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49640" y="36118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AI backend powers every stage; connected suites are now cheap to build. The cost of trusting an un-grounded one has gone up.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67128" y="5760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C3C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Grounding is the antidote — and grounding only compounds when the steps are connected.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Throughline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0E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deck — a deployed product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6455664" cy="3776472"/>
          </a:xfrm>
          <a:prstGeom prst="roundRect">
            <a:avLst>
              <a:gd name="adj" fmla="val 1453"/>
            </a:avLst>
          </a:prstGeom>
          <a:solidFill>
            <a:srgbClr val="0E0E18"/>
          </a:solidFill>
          <a:ln/>
        </p:spPr>
      </p:sp>
      <p:pic>
        <p:nvPicPr>
          <p:cNvPr id="4" name="Image 0" descr="hero.png">    </p:cNvPr>
          <p:cNvPicPr>
            <a:picLocks noChangeAspect="1"/>
          </p:cNvPicPr>
          <p:nvPr/>
        </p:nvPicPr>
        <p:blipFill>
          <a:blip r:embed="rId1"/>
          <a:srcRect l="0" r="0" t="0" b="12018"/>
          <a:stretch/>
        </p:blipFill>
        <p:spPr>
          <a:xfrm>
            <a:off x="640080" y="1554480"/>
            <a:ext cx="6309360" cy="35478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3492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throughline-studio.vercel.app — live today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406640" y="1691640"/>
            <a:ext cx="292608" cy="292608"/>
          </a:xfrm>
          <a:prstGeom prst="ellipse">
            <a:avLst/>
          </a:prstGeom>
          <a:solidFill>
            <a:srgbClr val="22C58D"/>
          </a:solidFill>
          <a:ln/>
        </p:spPr>
      </p:sp>
      <p:sp>
        <p:nvSpPr>
          <p:cNvPr id="7" name="Text 4"/>
          <p:cNvSpPr/>
          <p:nvPr/>
        </p:nvSpPr>
        <p:spPr>
          <a:xfrm>
            <a:off x="7406640" y="1682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0" y="1581912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7 stages live, working on the real libraries — corpus, theories, scales.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2651760"/>
            <a:ext cx="292608" cy="292608"/>
          </a:xfrm>
          <a:prstGeom prst="ellipse">
            <a:avLst/>
          </a:prstGeom>
          <a:solidFill>
            <a:srgbClr val="22C58D"/>
          </a:solidFill>
          <a:ln/>
        </p:spPr>
      </p:sp>
      <p:sp>
        <p:nvSpPr>
          <p:cNvPr id="10" name="Text 7"/>
          <p:cNvSpPr/>
          <p:nvPr/>
        </p:nvSpPr>
        <p:spPr>
          <a:xfrm>
            <a:off x="7406640" y="2642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63840" y="2542032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Statistics engine verified against textbook values: 13/13 numerical checks pass.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06640" y="3611880"/>
            <a:ext cx="292608" cy="292608"/>
          </a:xfrm>
          <a:prstGeom prst="ellipse">
            <a:avLst/>
          </a:prstGeom>
          <a:solidFill>
            <a:srgbClr val="22C58D"/>
          </a:solidFill>
          <a:ln/>
        </p:spPr>
      </p:sp>
      <p:sp>
        <p:nvSpPr>
          <p:cNvPr id="13" name="Text 10"/>
          <p:cNvSpPr/>
          <p:nvPr/>
        </p:nvSpPr>
        <p:spPr>
          <a:xfrm>
            <a:off x="7406640" y="3602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0" y="3502152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worked examples — classic studies walked A→Z, every paper DOI-verified.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06640" y="4572000"/>
            <a:ext cx="292608" cy="292608"/>
          </a:xfrm>
          <a:prstGeom prst="ellipse">
            <a:avLst/>
          </a:prstGeom>
          <a:solidFill>
            <a:srgbClr val="22C58D"/>
          </a:solidFill>
          <a:ln/>
        </p:spPr>
      </p:sp>
      <p:sp>
        <p:nvSpPr>
          <p:cNvPr id="16" name="Text 13"/>
          <p:cNvSpPr/>
          <p:nvPr/>
        </p:nvSpPr>
        <p:spPr>
          <a:xfrm>
            <a:off x="7406640" y="4562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63840" y="4462272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C3C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full suite deployed behind it: 6 workflow tools + 4 reference libraries.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908792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F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Throughline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4248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400" kern="0" dirty="0">
                <a:solidFill>
                  <a:srgbClr val="FF96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1069848" y="13258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methods cohort. End to end.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755648" y="233172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one graduate research-methods cohort through Throughline — real students, real projects,</a:t>
            </a:r>
            <a:endParaRPr lang="en-US" sz="145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first hunch to submitted manuscript — and publish an honest account of where the chain held and where it broke.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088136" y="3977640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F1457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cohort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82112" y="3995928"/>
            <a:ext cx="521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39896" y="3977640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15151F"/>
          </a:solidFill>
          <a:ln w="12700">
            <a:solidFill>
              <a:srgbClr val="55545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sync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33872" y="3995928"/>
            <a:ext cx="521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91656" y="3977640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15151F"/>
          </a:solidFill>
          <a:ln w="12700">
            <a:solidFill>
              <a:srgbClr val="55545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Metering &amp; billing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85632" y="3995928"/>
            <a:ext cx="521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43416" y="3977640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15151F"/>
          </a:solidFill>
          <a:ln w="12700">
            <a:solidFill>
              <a:srgbClr val="55545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7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Collaboration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5074920"/>
            <a:ext cx="117492" cy="41148"/>
          </a:xfrm>
          <a:prstGeom prst="rect">
            <a:avLst/>
          </a:prstGeom>
          <a:solidFill>
            <a:srgbClr val="FF9656"/>
          </a:solidFill>
          <a:ln/>
        </p:spPr>
      </p:sp>
      <p:sp>
        <p:nvSpPr>
          <p:cNvPr id="13" name="Shape 11"/>
          <p:cNvSpPr/>
          <p:nvPr/>
        </p:nvSpPr>
        <p:spPr>
          <a:xfrm>
            <a:off x="3744631" y="5074920"/>
            <a:ext cx="117492" cy="41148"/>
          </a:xfrm>
          <a:prstGeom prst="rect">
            <a:avLst/>
          </a:prstGeom>
          <a:solidFill>
            <a:srgbClr val="FF9357"/>
          </a:solidFill>
          <a:ln/>
        </p:spPr>
      </p:sp>
      <p:sp>
        <p:nvSpPr>
          <p:cNvPr id="14" name="Shape 12"/>
          <p:cNvSpPr/>
          <p:nvPr/>
        </p:nvSpPr>
        <p:spPr>
          <a:xfrm>
            <a:off x="3831663" y="5074920"/>
            <a:ext cx="117492" cy="41148"/>
          </a:xfrm>
          <a:prstGeom prst="rect">
            <a:avLst/>
          </a:prstGeom>
          <a:solidFill>
            <a:srgbClr val="FE9158"/>
          </a:solidFill>
          <a:ln/>
        </p:spPr>
      </p:sp>
      <p:sp>
        <p:nvSpPr>
          <p:cNvPr id="15" name="Shape 13"/>
          <p:cNvSpPr/>
          <p:nvPr/>
        </p:nvSpPr>
        <p:spPr>
          <a:xfrm>
            <a:off x="3918694" y="5074920"/>
            <a:ext cx="117492" cy="41148"/>
          </a:xfrm>
          <a:prstGeom prst="rect">
            <a:avLst/>
          </a:prstGeom>
          <a:solidFill>
            <a:srgbClr val="FE8E59"/>
          </a:solidFill>
          <a:ln/>
        </p:spPr>
      </p:sp>
      <p:sp>
        <p:nvSpPr>
          <p:cNvPr id="16" name="Shape 14"/>
          <p:cNvSpPr/>
          <p:nvPr/>
        </p:nvSpPr>
        <p:spPr>
          <a:xfrm>
            <a:off x="4005725" y="5074920"/>
            <a:ext cx="117492" cy="41148"/>
          </a:xfrm>
          <a:prstGeom prst="rect">
            <a:avLst/>
          </a:prstGeom>
          <a:solidFill>
            <a:srgbClr val="FD8B5A"/>
          </a:solidFill>
          <a:ln/>
        </p:spPr>
      </p:sp>
      <p:sp>
        <p:nvSpPr>
          <p:cNvPr id="17" name="Shape 15"/>
          <p:cNvSpPr/>
          <p:nvPr/>
        </p:nvSpPr>
        <p:spPr>
          <a:xfrm>
            <a:off x="4092756" y="5074920"/>
            <a:ext cx="117492" cy="41148"/>
          </a:xfrm>
          <a:prstGeom prst="rect">
            <a:avLst/>
          </a:prstGeom>
          <a:solidFill>
            <a:srgbClr val="FD895B"/>
          </a:solidFill>
          <a:ln/>
        </p:spPr>
      </p:sp>
      <p:sp>
        <p:nvSpPr>
          <p:cNvPr id="18" name="Shape 16"/>
          <p:cNvSpPr/>
          <p:nvPr/>
        </p:nvSpPr>
        <p:spPr>
          <a:xfrm>
            <a:off x="4179788" y="5074920"/>
            <a:ext cx="117492" cy="41148"/>
          </a:xfrm>
          <a:prstGeom prst="rect">
            <a:avLst/>
          </a:prstGeom>
          <a:solidFill>
            <a:srgbClr val="FC865C"/>
          </a:solidFill>
          <a:ln/>
        </p:spPr>
      </p:sp>
      <p:sp>
        <p:nvSpPr>
          <p:cNvPr id="19" name="Shape 17"/>
          <p:cNvSpPr/>
          <p:nvPr/>
        </p:nvSpPr>
        <p:spPr>
          <a:xfrm>
            <a:off x="4266819" y="5074920"/>
            <a:ext cx="117492" cy="41148"/>
          </a:xfrm>
          <a:prstGeom prst="rect">
            <a:avLst/>
          </a:prstGeom>
          <a:solidFill>
            <a:srgbClr val="FC835D"/>
          </a:solidFill>
          <a:ln/>
        </p:spPr>
      </p:sp>
      <p:sp>
        <p:nvSpPr>
          <p:cNvPr id="20" name="Shape 18"/>
          <p:cNvSpPr/>
          <p:nvPr/>
        </p:nvSpPr>
        <p:spPr>
          <a:xfrm>
            <a:off x="4353850" y="5074920"/>
            <a:ext cx="117492" cy="41148"/>
          </a:xfrm>
          <a:prstGeom prst="rect">
            <a:avLst/>
          </a:prstGeom>
          <a:solidFill>
            <a:srgbClr val="FB815E"/>
          </a:solidFill>
          <a:ln/>
        </p:spPr>
      </p:sp>
      <p:sp>
        <p:nvSpPr>
          <p:cNvPr id="21" name="Shape 19"/>
          <p:cNvSpPr/>
          <p:nvPr/>
        </p:nvSpPr>
        <p:spPr>
          <a:xfrm>
            <a:off x="4440882" y="5074920"/>
            <a:ext cx="117492" cy="41148"/>
          </a:xfrm>
          <a:prstGeom prst="rect">
            <a:avLst/>
          </a:prstGeom>
          <a:solidFill>
            <a:srgbClr val="FB7E5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27913" y="5074920"/>
            <a:ext cx="117492" cy="41148"/>
          </a:xfrm>
          <a:prstGeom prst="rect">
            <a:avLst/>
          </a:prstGeom>
          <a:solidFill>
            <a:srgbClr val="FA7B60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4944" y="5074920"/>
            <a:ext cx="117492" cy="41148"/>
          </a:xfrm>
          <a:prstGeom prst="rect">
            <a:avLst/>
          </a:prstGeom>
          <a:solidFill>
            <a:srgbClr val="FA7961"/>
          </a:solidFill>
          <a:ln/>
        </p:spPr>
      </p:sp>
      <p:sp>
        <p:nvSpPr>
          <p:cNvPr id="24" name="Shape 22"/>
          <p:cNvSpPr/>
          <p:nvPr/>
        </p:nvSpPr>
        <p:spPr>
          <a:xfrm>
            <a:off x="4701975" y="5074920"/>
            <a:ext cx="117492" cy="41148"/>
          </a:xfrm>
          <a:prstGeom prst="rect">
            <a:avLst/>
          </a:prstGeom>
          <a:solidFill>
            <a:srgbClr val="F97662"/>
          </a:solidFill>
          <a:ln/>
        </p:spPr>
      </p:sp>
      <p:sp>
        <p:nvSpPr>
          <p:cNvPr id="25" name="Shape 23"/>
          <p:cNvSpPr/>
          <p:nvPr/>
        </p:nvSpPr>
        <p:spPr>
          <a:xfrm>
            <a:off x="4789007" y="5074920"/>
            <a:ext cx="117492" cy="41148"/>
          </a:xfrm>
          <a:prstGeom prst="rect">
            <a:avLst/>
          </a:prstGeom>
          <a:solidFill>
            <a:srgbClr val="F97363"/>
          </a:solidFill>
          <a:ln/>
        </p:spPr>
      </p:sp>
      <p:sp>
        <p:nvSpPr>
          <p:cNvPr id="26" name="Shape 24"/>
          <p:cNvSpPr/>
          <p:nvPr/>
        </p:nvSpPr>
        <p:spPr>
          <a:xfrm>
            <a:off x="4876038" y="5074920"/>
            <a:ext cx="117492" cy="41148"/>
          </a:xfrm>
          <a:prstGeom prst="rect">
            <a:avLst/>
          </a:prstGeom>
          <a:solidFill>
            <a:srgbClr val="F97164"/>
          </a:solidFill>
          <a:ln/>
        </p:spPr>
      </p:sp>
      <p:sp>
        <p:nvSpPr>
          <p:cNvPr id="27" name="Shape 25"/>
          <p:cNvSpPr/>
          <p:nvPr/>
        </p:nvSpPr>
        <p:spPr>
          <a:xfrm>
            <a:off x="4963069" y="5074920"/>
            <a:ext cx="117492" cy="41148"/>
          </a:xfrm>
          <a:prstGeom prst="rect">
            <a:avLst/>
          </a:prstGeom>
          <a:solidFill>
            <a:srgbClr val="F86E65"/>
          </a:solidFill>
          <a:ln/>
        </p:spPr>
      </p:sp>
      <p:sp>
        <p:nvSpPr>
          <p:cNvPr id="28" name="Shape 26"/>
          <p:cNvSpPr/>
          <p:nvPr/>
        </p:nvSpPr>
        <p:spPr>
          <a:xfrm>
            <a:off x="5050101" y="5074920"/>
            <a:ext cx="117492" cy="41148"/>
          </a:xfrm>
          <a:prstGeom prst="rect">
            <a:avLst/>
          </a:prstGeom>
          <a:solidFill>
            <a:srgbClr val="F86B66"/>
          </a:solidFill>
          <a:ln/>
        </p:spPr>
      </p:sp>
      <p:sp>
        <p:nvSpPr>
          <p:cNvPr id="29" name="Shape 27"/>
          <p:cNvSpPr/>
          <p:nvPr/>
        </p:nvSpPr>
        <p:spPr>
          <a:xfrm>
            <a:off x="5137132" y="5074920"/>
            <a:ext cx="117492" cy="41148"/>
          </a:xfrm>
          <a:prstGeom prst="rect">
            <a:avLst/>
          </a:prstGeom>
          <a:solidFill>
            <a:srgbClr val="F76867"/>
          </a:solidFill>
          <a:ln/>
        </p:spPr>
      </p:sp>
      <p:sp>
        <p:nvSpPr>
          <p:cNvPr id="30" name="Shape 28"/>
          <p:cNvSpPr/>
          <p:nvPr/>
        </p:nvSpPr>
        <p:spPr>
          <a:xfrm>
            <a:off x="5224163" y="5074920"/>
            <a:ext cx="117492" cy="41148"/>
          </a:xfrm>
          <a:prstGeom prst="rect">
            <a:avLst/>
          </a:prstGeom>
          <a:solidFill>
            <a:srgbClr val="F76668"/>
          </a:solidFill>
          <a:ln/>
        </p:spPr>
      </p:sp>
      <p:sp>
        <p:nvSpPr>
          <p:cNvPr id="31" name="Shape 29"/>
          <p:cNvSpPr/>
          <p:nvPr/>
        </p:nvSpPr>
        <p:spPr>
          <a:xfrm>
            <a:off x="5311194" y="5074920"/>
            <a:ext cx="117492" cy="41148"/>
          </a:xfrm>
          <a:prstGeom prst="rect">
            <a:avLst/>
          </a:prstGeom>
          <a:solidFill>
            <a:srgbClr val="F66369"/>
          </a:solidFill>
          <a:ln/>
        </p:spPr>
      </p:sp>
      <p:sp>
        <p:nvSpPr>
          <p:cNvPr id="32" name="Shape 30"/>
          <p:cNvSpPr/>
          <p:nvPr/>
        </p:nvSpPr>
        <p:spPr>
          <a:xfrm>
            <a:off x="5398226" y="5074920"/>
            <a:ext cx="117492" cy="41148"/>
          </a:xfrm>
          <a:prstGeom prst="rect">
            <a:avLst/>
          </a:prstGeom>
          <a:solidFill>
            <a:srgbClr val="F6606A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5257" y="5074920"/>
            <a:ext cx="117492" cy="41148"/>
          </a:xfrm>
          <a:prstGeom prst="rect">
            <a:avLst/>
          </a:prstGeom>
          <a:solidFill>
            <a:srgbClr val="F55E6C"/>
          </a:solidFill>
          <a:ln/>
        </p:spPr>
      </p:sp>
      <p:sp>
        <p:nvSpPr>
          <p:cNvPr id="34" name="Shape 32"/>
          <p:cNvSpPr/>
          <p:nvPr/>
        </p:nvSpPr>
        <p:spPr>
          <a:xfrm>
            <a:off x="5572288" y="5074920"/>
            <a:ext cx="117492" cy="41148"/>
          </a:xfrm>
          <a:prstGeom prst="rect">
            <a:avLst/>
          </a:prstGeom>
          <a:solidFill>
            <a:srgbClr val="F55B6D"/>
          </a:solidFill>
          <a:ln/>
        </p:spPr>
      </p:sp>
      <p:sp>
        <p:nvSpPr>
          <p:cNvPr id="35" name="Shape 33"/>
          <p:cNvSpPr/>
          <p:nvPr/>
        </p:nvSpPr>
        <p:spPr>
          <a:xfrm>
            <a:off x="5659320" y="5074920"/>
            <a:ext cx="117492" cy="41148"/>
          </a:xfrm>
          <a:prstGeom prst="rect">
            <a:avLst/>
          </a:prstGeom>
          <a:solidFill>
            <a:srgbClr val="F4586E"/>
          </a:solidFill>
          <a:ln/>
        </p:spPr>
      </p:sp>
      <p:sp>
        <p:nvSpPr>
          <p:cNvPr id="36" name="Shape 34"/>
          <p:cNvSpPr/>
          <p:nvPr/>
        </p:nvSpPr>
        <p:spPr>
          <a:xfrm>
            <a:off x="5746351" y="5074920"/>
            <a:ext cx="117492" cy="41148"/>
          </a:xfrm>
          <a:prstGeom prst="rect">
            <a:avLst/>
          </a:prstGeom>
          <a:solidFill>
            <a:srgbClr val="F4566F"/>
          </a:solidFill>
          <a:ln/>
        </p:spPr>
      </p:sp>
      <p:sp>
        <p:nvSpPr>
          <p:cNvPr id="37" name="Shape 35"/>
          <p:cNvSpPr/>
          <p:nvPr/>
        </p:nvSpPr>
        <p:spPr>
          <a:xfrm>
            <a:off x="5833382" y="5074920"/>
            <a:ext cx="117492" cy="41148"/>
          </a:xfrm>
          <a:prstGeom prst="rect">
            <a:avLst/>
          </a:prstGeom>
          <a:solidFill>
            <a:srgbClr val="F35370"/>
          </a:solidFill>
          <a:ln/>
        </p:spPr>
      </p:sp>
      <p:sp>
        <p:nvSpPr>
          <p:cNvPr id="38" name="Shape 36"/>
          <p:cNvSpPr/>
          <p:nvPr/>
        </p:nvSpPr>
        <p:spPr>
          <a:xfrm>
            <a:off x="5920413" y="5074920"/>
            <a:ext cx="117492" cy="41148"/>
          </a:xfrm>
          <a:prstGeom prst="rect">
            <a:avLst/>
          </a:prstGeom>
          <a:solidFill>
            <a:srgbClr val="F35071"/>
          </a:solidFill>
          <a:ln/>
        </p:spPr>
      </p:sp>
      <p:sp>
        <p:nvSpPr>
          <p:cNvPr id="39" name="Shape 37"/>
          <p:cNvSpPr/>
          <p:nvPr/>
        </p:nvSpPr>
        <p:spPr>
          <a:xfrm>
            <a:off x="6007445" y="5074920"/>
            <a:ext cx="117492" cy="41148"/>
          </a:xfrm>
          <a:prstGeom prst="rect">
            <a:avLst/>
          </a:prstGeom>
          <a:solidFill>
            <a:srgbClr val="F34E72"/>
          </a:solidFill>
          <a:ln/>
        </p:spPr>
      </p:sp>
      <p:sp>
        <p:nvSpPr>
          <p:cNvPr id="40" name="Shape 38"/>
          <p:cNvSpPr/>
          <p:nvPr/>
        </p:nvSpPr>
        <p:spPr>
          <a:xfrm>
            <a:off x="6094476" y="5074920"/>
            <a:ext cx="117492" cy="41148"/>
          </a:xfrm>
          <a:prstGeom prst="rect">
            <a:avLst/>
          </a:prstGeom>
          <a:solidFill>
            <a:srgbClr val="F24B73"/>
          </a:solidFill>
          <a:ln/>
        </p:spPr>
      </p:sp>
      <p:sp>
        <p:nvSpPr>
          <p:cNvPr id="41" name="Shape 39"/>
          <p:cNvSpPr/>
          <p:nvPr/>
        </p:nvSpPr>
        <p:spPr>
          <a:xfrm>
            <a:off x="6181507" y="5074920"/>
            <a:ext cx="117492" cy="41148"/>
          </a:xfrm>
          <a:prstGeom prst="rect">
            <a:avLst/>
          </a:prstGeom>
          <a:solidFill>
            <a:srgbClr val="F24874"/>
          </a:solidFill>
          <a:ln/>
        </p:spPr>
      </p:sp>
      <p:sp>
        <p:nvSpPr>
          <p:cNvPr id="42" name="Shape 40"/>
          <p:cNvSpPr/>
          <p:nvPr/>
        </p:nvSpPr>
        <p:spPr>
          <a:xfrm>
            <a:off x="6268539" y="5074920"/>
            <a:ext cx="117492" cy="41148"/>
          </a:xfrm>
          <a:prstGeom prst="rect">
            <a:avLst/>
          </a:prstGeom>
          <a:solidFill>
            <a:srgbClr val="F14675"/>
          </a:solidFill>
          <a:ln/>
        </p:spPr>
      </p:sp>
      <p:sp>
        <p:nvSpPr>
          <p:cNvPr id="43" name="Shape 41"/>
          <p:cNvSpPr/>
          <p:nvPr/>
        </p:nvSpPr>
        <p:spPr>
          <a:xfrm>
            <a:off x="6355570" y="5074920"/>
            <a:ext cx="117492" cy="41148"/>
          </a:xfrm>
          <a:prstGeom prst="rect">
            <a:avLst/>
          </a:prstGeom>
          <a:solidFill>
            <a:srgbClr val="EE4679"/>
          </a:solidFill>
          <a:ln/>
        </p:spPr>
      </p:sp>
      <p:sp>
        <p:nvSpPr>
          <p:cNvPr id="44" name="Shape 42"/>
          <p:cNvSpPr/>
          <p:nvPr/>
        </p:nvSpPr>
        <p:spPr>
          <a:xfrm>
            <a:off x="6442601" y="5074920"/>
            <a:ext cx="117492" cy="41148"/>
          </a:xfrm>
          <a:prstGeom prst="rect">
            <a:avLst/>
          </a:prstGeom>
          <a:solidFill>
            <a:srgbClr val="EA487E"/>
          </a:solidFill>
          <a:ln/>
        </p:spPr>
      </p:sp>
      <p:sp>
        <p:nvSpPr>
          <p:cNvPr id="45" name="Shape 43"/>
          <p:cNvSpPr/>
          <p:nvPr/>
        </p:nvSpPr>
        <p:spPr>
          <a:xfrm>
            <a:off x="6529632" y="5074920"/>
            <a:ext cx="117492" cy="41148"/>
          </a:xfrm>
          <a:prstGeom prst="rect">
            <a:avLst/>
          </a:prstGeom>
          <a:solidFill>
            <a:srgbClr val="E64A83"/>
          </a:solidFill>
          <a:ln/>
        </p:spPr>
      </p:sp>
      <p:sp>
        <p:nvSpPr>
          <p:cNvPr id="46" name="Shape 44"/>
          <p:cNvSpPr/>
          <p:nvPr/>
        </p:nvSpPr>
        <p:spPr>
          <a:xfrm>
            <a:off x="6616664" y="5074920"/>
            <a:ext cx="117492" cy="41148"/>
          </a:xfrm>
          <a:prstGeom prst="rect">
            <a:avLst/>
          </a:prstGeom>
          <a:solidFill>
            <a:srgbClr val="E34C88"/>
          </a:solidFill>
          <a:ln/>
        </p:spPr>
      </p:sp>
      <p:sp>
        <p:nvSpPr>
          <p:cNvPr id="47" name="Shape 45"/>
          <p:cNvSpPr/>
          <p:nvPr/>
        </p:nvSpPr>
        <p:spPr>
          <a:xfrm>
            <a:off x="6703695" y="5074920"/>
            <a:ext cx="117492" cy="41148"/>
          </a:xfrm>
          <a:prstGeom prst="rect">
            <a:avLst/>
          </a:prstGeom>
          <a:solidFill>
            <a:srgbClr val="DF4D8D"/>
          </a:solidFill>
          <a:ln/>
        </p:spPr>
      </p:sp>
      <p:sp>
        <p:nvSpPr>
          <p:cNvPr id="48" name="Shape 46"/>
          <p:cNvSpPr/>
          <p:nvPr/>
        </p:nvSpPr>
        <p:spPr>
          <a:xfrm>
            <a:off x="6790726" y="5074920"/>
            <a:ext cx="117492" cy="41148"/>
          </a:xfrm>
          <a:prstGeom prst="rect">
            <a:avLst/>
          </a:prstGeom>
          <a:solidFill>
            <a:srgbClr val="DB4F93"/>
          </a:solidFill>
          <a:ln/>
        </p:spPr>
      </p:sp>
      <p:sp>
        <p:nvSpPr>
          <p:cNvPr id="49" name="Shape 47"/>
          <p:cNvSpPr/>
          <p:nvPr/>
        </p:nvSpPr>
        <p:spPr>
          <a:xfrm>
            <a:off x="6877758" y="5074920"/>
            <a:ext cx="117492" cy="41148"/>
          </a:xfrm>
          <a:prstGeom prst="rect">
            <a:avLst/>
          </a:prstGeom>
          <a:solidFill>
            <a:srgbClr val="D75198"/>
          </a:solidFill>
          <a:ln/>
        </p:spPr>
      </p:sp>
      <p:sp>
        <p:nvSpPr>
          <p:cNvPr id="50" name="Shape 48"/>
          <p:cNvSpPr/>
          <p:nvPr/>
        </p:nvSpPr>
        <p:spPr>
          <a:xfrm>
            <a:off x="6964789" y="5074920"/>
            <a:ext cx="117492" cy="41148"/>
          </a:xfrm>
          <a:prstGeom prst="rect">
            <a:avLst/>
          </a:prstGeom>
          <a:solidFill>
            <a:srgbClr val="D3529D"/>
          </a:solidFill>
          <a:ln/>
        </p:spPr>
      </p:sp>
      <p:sp>
        <p:nvSpPr>
          <p:cNvPr id="51" name="Shape 49"/>
          <p:cNvSpPr/>
          <p:nvPr/>
        </p:nvSpPr>
        <p:spPr>
          <a:xfrm>
            <a:off x="7051820" y="5074920"/>
            <a:ext cx="117492" cy="41148"/>
          </a:xfrm>
          <a:prstGeom prst="rect">
            <a:avLst/>
          </a:prstGeom>
          <a:solidFill>
            <a:srgbClr val="CF54A2"/>
          </a:solidFill>
          <a:ln/>
        </p:spPr>
      </p:sp>
      <p:sp>
        <p:nvSpPr>
          <p:cNvPr id="52" name="Shape 50"/>
          <p:cNvSpPr/>
          <p:nvPr/>
        </p:nvSpPr>
        <p:spPr>
          <a:xfrm>
            <a:off x="7138851" y="5074920"/>
            <a:ext cx="117492" cy="41148"/>
          </a:xfrm>
          <a:prstGeom prst="rect">
            <a:avLst/>
          </a:prstGeom>
          <a:solidFill>
            <a:srgbClr val="CC56A7"/>
          </a:solidFill>
          <a:ln/>
        </p:spPr>
      </p:sp>
      <p:sp>
        <p:nvSpPr>
          <p:cNvPr id="53" name="Shape 51"/>
          <p:cNvSpPr/>
          <p:nvPr/>
        </p:nvSpPr>
        <p:spPr>
          <a:xfrm>
            <a:off x="7225883" y="5074920"/>
            <a:ext cx="117492" cy="41148"/>
          </a:xfrm>
          <a:prstGeom prst="rect">
            <a:avLst/>
          </a:prstGeom>
          <a:solidFill>
            <a:srgbClr val="C858AC"/>
          </a:solidFill>
          <a:ln/>
        </p:spPr>
      </p:sp>
      <p:sp>
        <p:nvSpPr>
          <p:cNvPr id="54" name="Shape 52"/>
          <p:cNvSpPr/>
          <p:nvPr/>
        </p:nvSpPr>
        <p:spPr>
          <a:xfrm>
            <a:off x="7312914" y="5074920"/>
            <a:ext cx="117492" cy="41148"/>
          </a:xfrm>
          <a:prstGeom prst="rect">
            <a:avLst/>
          </a:prstGeom>
          <a:solidFill>
            <a:srgbClr val="C459B1"/>
          </a:solidFill>
          <a:ln/>
        </p:spPr>
      </p:sp>
      <p:sp>
        <p:nvSpPr>
          <p:cNvPr id="55" name="Shape 53"/>
          <p:cNvSpPr/>
          <p:nvPr/>
        </p:nvSpPr>
        <p:spPr>
          <a:xfrm>
            <a:off x="7399945" y="5074920"/>
            <a:ext cx="117492" cy="41148"/>
          </a:xfrm>
          <a:prstGeom prst="rect">
            <a:avLst/>
          </a:prstGeom>
          <a:solidFill>
            <a:srgbClr val="C05BB6"/>
          </a:solidFill>
          <a:ln/>
        </p:spPr>
      </p:sp>
      <p:sp>
        <p:nvSpPr>
          <p:cNvPr id="56" name="Shape 54"/>
          <p:cNvSpPr/>
          <p:nvPr/>
        </p:nvSpPr>
        <p:spPr>
          <a:xfrm>
            <a:off x="7486977" y="5074920"/>
            <a:ext cx="117492" cy="41148"/>
          </a:xfrm>
          <a:prstGeom prst="rect">
            <a:avLst/>
          </a:prstGeom>
          <a:solidFill>
            <a:srgbClr val="BC5DBC"/>
          </a:solidFill>
          <a:ln/>
        </p:spPr>
      </p:sp>
      <p:sp>
        <p:nvSpPr>
          <p:cNvPr id="57" name="Shape 55"/>
          <p:cNvSpPr/>
          <p:nvPr/>
        </p:nvSpPr>
        <p:spPr>
          <a:xfrm>
            <a:off x="7574008" y="5074920"/>
            <a:ext cx="117492" cy="41148"/>
          </a:xfrm>
          <a:prstGeom prst="rect">
            <a:avLst/>
          </a:prstGeom>
          <a:solidFill>
            <a:srgbClr val="B85FC1"/>
          </a:solidFill>
          <a:ln/>
        </p:spPr>
      </p:sp>
      <p:sp>
        <p:nvSpPr>
          <p:cNvPr id="58" name="Shape 56"/>
          <p:cNvSpPr/>
          <p:nvPr/>
        </p:nvSpPr>
        <p:spPr>
          <a:xfrm>
            <a:off x="7661039" y="5074920"/>
            <a:ext cx="117492" cy="41148"/>
          </a:xfrm>
          <a:prstGeom prst="rect">
            <a:avLst/>
          </a:prstGeom>
          <a:solidFill>
            <a:srgbClr val="B560C6"/>
          </a:solidFill>
          <a:ln/>
        </p:spPr>
      </p:sp>
      <p:sp>
        <p:nvSpPr>
          <p:cNvPr id="59" name="Shape 57"/>
          <p:cNvSpPr/>
          <p:nvPr/>
        </p:nvSpPr>
        <p:spPr>
          <a:xfrm>
            <a:off x="7748070" y="5074920"/>
            <a:ext cx="117492" cy="41148"/>
          </a:xfrm>
          <a:prstGeom prst="rect">
            <a:avLst/>
          </a:prstGeom>
          <a:solidFill>
            <a:srgbClr val="B162CB"/>
          </a:solidFill>
          <a:ln/>
        </p:spPr>
      </p:sp>
      <p:sp>
        <p:nvSpPr>
          <p:cNvPr id="60" name="Shape 58"/>
          <p:cNvSpPr/>
          <p:nvPr/>
        </p:nvSpPr>
        <p:spPr>
          <a:xfrm>
            <a:off x="7835102" y="5074920"/>
            <a:ext cx="117492" cy="41148"/>
          </a:xfrm>
          <a:prstGeom prst="rect">
            <a:avLst/>
          </a:prstGeom>
          <a:solidFill>
            <a:srgbClr val="AD64D0"/>
          </a:solidFill>
          <a:ln/>
        </p:spPr>
      </p:sp>
      <p:sp>
        <p:nvSpPr>
          <p:cNvPr id="61" name="Shape 59"/>
          <p:cNvSpPr/>
          <p:nvPr/>
        </p:nvSpPr>
        <p:spPr>
          <a:xfrm>
            <a:off x="7922133" y="5074920"/>
            <a:ext cx="117492" cy="41148"/>
          </a:xfrm>
          <a:prstGeom prst="rect">
            <a:avLst/>
          </a:prstGeom>
          <a:solidFill>
            <a:srgbClr val="A966D5"/>
          </a:solidFill>
          <a:ln/>
        </p:spPr>
      </p:sp>
      <p:sp>
        <p:nvSpPr>
          <p:cNvPr id="62" name="Shape 60"/>
          <p:cNvSpPr/>
          <p:nvPr/>
        </p:nvSpPr>
        <p:spPr>
          <a:xfrm>
            <a:off x="8009164" y="5074920"/>
            <a:ext cx="117492" cy="41148"/>
          </a:xfrm>
          <a:prstGeom prst="rect">
            <a:avLst/>
          </a:prstGeom>
          <a:solidFill>
            <a:srgbClr val="A567DA"/>
          </a:solidFill>
          <a:ln/>
        </p:spPr>
      </p:sp>
      <p:sp>
        <p:nvSpPr>
          <p:cNvPr id="63" name="Shape 61"/>
          <p:cNvSpPr/>
          <p:nvPr/>
        </p:nvSpPr>
        <p:spPr>
          <a:xfrm>
            <a:off x="8096196" y="5074920"/>
            <a:ext cx="117492" cy="41148"/>
          </a:xfrm>
          <a:prstGeom prst="rect">
            <a:avLst/>
          </a:prstGeom>
          <a:solidFill>
            <a:srgbClr val="A169DF"/>
          </a:solidFill>
          <a:ln/>
        </p:spPr>
      </p:sp>
      <p:sp>
        <p:nvSpPr>
          <p:cNvPr id="64" name="Shape 62"/>
          <p:cNvSpPr/>
          <p:nvPr/>
        </p:nvSpPr>
        <p:spPr>
          <a:xfrm>
            <a:off x="8183227" y="5074920"/>
            <a:ext cx="117492" cy="41148"/>
          </a:xfrm>
          <a:prstGeom prst="rect">
            <a:avLst/>
          </a:prstGeom>
          <a:solidFill>
            <a:srgbClr val="9E6BE5"/>
          </a:solidFill>
          <a:ln/>
        </p:spPr>
      </p:sp>
      <p:sp>
        <p:nvSpPr>
          <p:cNvPr id="65" name="Shape 63"/>
          <p:cNvSpPr/>
          <p:nvPr/>
        </p:nvSpPr>
        <p:spPr>
          <a:xfrm>
            <a:off x="8270258" y="5074920"/>
            <a:ext cx="117492" cy="41148"/>
          </a:xfrm>
          <a:prstGeom prst="rect">
            <a:avLst/>
          </a:prstGeom>
          <a:solidFill>
            <a:srgbClr val="9A6DEA"/>
          </a:solidFill>
          <a:ln/>
        </p:spPr>
      </p:sp>
      <p:sp>
        <p:nvSpPr>
          <p:cNvPr id="66" name="Shape 64"/>
          <p:cNvSpPr/>
          <p:nvPr/>
        </p:nvSpPr>
        <p:spPr>
          <a:xfrm>
            <a:off x="8357289" y="5074920"/>
            <a:ext cx="117492" cy="41148"/>
          </a:xfrm>
          <a:prstGeom prst="rect">
            <a:avLst/>
          </a:prstGeom>
          <a:solidFill>
            <a:srgbClr val="966EEF"/>
          </a:solidFill>
          <a:ln/>
        </p:spPr>
      </p:sp>
      <p:sp>
        <p:nvSpPr>
          <p:cNvPr id="67" name="Shape 65"/>
          <p:cNvSpPr/>
          <p:nvPr/>
        </p:nvSpPr>
        <p:spPr>
          <a:xfrm>
            <a:off x="8444321" y="5074920"/>
            <a:ext cx="117492" cy="41148"/>
          </a:xfrm>
          <a:prstGeom prst="rect">
            <a:avLst/>
          </a:prstGeom>
          <a:solidFill>
            <a:srgbClr val="9270F4"/>
          </a:solidFill>
          <a:ln/>
        </p:spPr>
      </p:sp>
      <p:sp>
        <p:nvSpPr>
          <p:cNvPr id="68" name="Text 66"/>
          <p:cNvSpPr/>
          <p:nvPr/>
        </p:nvSpPr>
        <p:spPr>
          <a:xfrm>
            <a:off x="3355848" y="5349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47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exists. The pilot proves it.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2898648" y="6263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8A9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Syed Asrar   ·   asrarsaa@gmail.com   ·   throughline-studio.vercel.app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2026-06-10T08:21:28Z</dcterms:created>
  <dcterms:modified xsi:type="dcterms:W3CDTF">2026-06-10T08:21:28Z</dcterms:modified>
</cp:coreProperties>
</file>